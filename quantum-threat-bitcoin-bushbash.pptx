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.jpeg" ContentType="image/jpeg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7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7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7A17060-F03E-48A3-ACFF-2A80D2EBF1B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F46CFA-72BF-4D61-B77C-08679FE0710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05CFA3-C1D2-4BB9-AC1A-ABFD6048229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7ADFEE-BD59-42D1-889F-EA437F3ABA9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Anchor slide. BIP-360 gets 5 dedicated slides.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B16380-E493-457B-B3BD-0A58C291A85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0" y="4114800"/>
            <a:ext cx="685800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Superposition: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 A qubit can be 0 and 1 at the same time. With n qubits, 2ⁿ states are explored in parallel.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Entanglement: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 Qubits can be linked so that the state of one instantly reflects the state of another. This enables coordinated computation across qubits.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Interference: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 Correct answers are amplified (constructive interference) and wrong answers cancel out (destructive interference). It's how you get a useful result out of all those parallel possibilities.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This is Deutsch's algorithm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 — the simplest quantum algorithm that demonstrates quantum speedup over classical computation.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H gate (Hadamard): h qubits are put into superposition. Now both are exploring 0 and 1 simultaneously.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Uꜰ (Oracle): A black-box function that encodes some unknown function f(x). It acts on both qubits together — this is where entanglement and interference happen.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H gate on top qubit: Transforms the result so the answer can be read out.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Measurement (meter symbol): Measure the top qubit only.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CRQC = Cryptographically Relevant Quantum Computer.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[Quantum resource estimates for computing elliptic curve discrete logarithms](https://arxiv.org/abs/1706.06752)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6755A7-CA37-4D75-87C6-25355AA12EF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Shor: exponential advantage, breaks DLP. The real worry.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Grover: quadratic only. Not a collapse event, a cost-curve shift.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935FA4-A23A-4CAF-96A1-637B9EDDD8F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2AE759-2CE8-4DBB-8D37-05E40FF5935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7F34D3-E4DF-4FE8-B790-8DA04D7FC5C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51E148-2343-4561-83DB-B0F47F438BE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BCCBB3-84FF-42C9-8071-32F96044209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Values from GRI 2024 key points. Weighted averages of 32 expert responses.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4CBD41-7DE3-4D25-9301-36A7D2F5903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2A0BDC-6444-406E-B5C9-91A8AB2D462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Derived from Appendix A.4 raw counts * probability bin assignments.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Key: ~34% optimistic at 10 yr, ~62% at 15 yr. The window is tightening.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CEC199-EFEE-45E2-BA80-F27617AFA14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CNSA 2.0: Commercial National Security Algorithm Suite.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NIST IR 8547 disallows ECC in US federal gov after 2035.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These drive enterprise Bitcoin infrastructure timelines.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91E14B-6E39-4589-9D21-4AEC12902CA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Key insight: spending behaviour determines exposure.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Address reuse = key exposed on-chain forever.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P2TR key-path = key exposed at receive time (like 2010-era P2PK).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499679-E207-4C5E-B2D8-3D933F5B05A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Pivot into solution space. These are coupled problems.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1A1B344-1B04-4017-93BA-D3CB73D8BB2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ML-DSA and SLH-DSA are the NIST PQC standards (Aug 2024).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Some candidates already broken: SIKE, Rainbow. Caution warranted.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498B76-79E2-4FFF-A587-4A77CEAF90E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C3062E-B421-434A-BC74-9E526E699F3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BIP-360 by Hunter Beast. Status: Draft.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Core idea: commit to Merkle root of script tree, not a tweaked public key.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Eliminates long-exposure quantum attack surface entirely.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BitMEX endorses this approach: removes Taproot key-path to match P2PKH quantum safety.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33D77F-5F76-462F-B3AB-7D22F4D2643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890D28-B9B9-4E51-9686-1A65B5130D7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min including questions. Bitcoin beginner-advanced, QC none-intermediate.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as a migration race, not overnight collapse.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B91E78-73E5-45CC-B0CD-D0A7137AC93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Verbatim from BIP-360: 'Minimize changes to the network.'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'Create the safest possible path for post-quantum signature integrations.'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'Facilitate gradual integration of quantum resistant features carried out iteratively.'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Future PQC via OP_SUCCESSx opcode updates for PQC OP_CHECKSIG.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CBE52E-AE04-4EAE-BEE8-CA54AD0365C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P2MR witness formula: 37 + 32*m bytes more than P2TR key-path.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But always 32 bytes LESS than equivalent P2TR script-path spend.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Because P2MR omits the internal public key from control block.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Depth 0: 103B. Depth 1: 135B. Depth 3: 199B.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CE5738-4F86-4026-8704-6A8E0400683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BIP-360: 'P2MR outputs are only resistant to long exposure attacks.'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'Protection against short exposure attacks may require future post-quantum signatures.'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BitMEX proposes dual tapleaf: quantum-safe AND quantum-vulnerable options per address.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58C078-DC84-4E54-82C6-CB659840471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Standard path: ~7 years for broad adoption (BIP co-author estimate).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Urgent path requires pre-work NOW: standards, wallet readiness, exchange coordination.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Side-by-side with GRI risk signal to visualise the race.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4103B1-7B6B-4256-9AFD-B4A1B3B7010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governance territory, not just engineering.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Hourglass BIP: rate-limit quantum-exposed coin movement.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freeze happens too early, legitimate users harmed.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too late, market crash from quantum theft.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05F475F-CC0E-4034-999C-38149D0036E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Satoshi's shield: if Satoshi's coins are vulnerable, attackers face massive sell pressure.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Game-theoretic deterrent against quantum theft.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xpub exposure: SMSF auditing requirements and public Electrum nodes leak derivation paths.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18C63E-CB09-451E-B4A8-431A2774546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Calibration slide. Staged threats, not a single catastrophic event.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Grover: 2^256 -&gt; 2^128 search space. Still enormous.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032659-7F01-401E-8E9B-B021C674843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Nation-state drivers keep quantum investment high regardless of Bitcoin.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'Store now, decrypt later' is already happening — Bitcoin's pressure is real.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637938-D582-4203-8C51-FF586B452BE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Close with priorities. Invite involvement.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Key question: what ships early without fragmenting consensus?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E7B1B8-B9A6-4264-825D-3CE926E1DCA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3235A2-C060-4793-BC07-80CD518C12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B843E8-0409-4C8B-844E-0DF2E4E9E4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3F3D90D-5DCB-4BCF-928F-53D24A6BFA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2A16282-8810-4C8E-A207-29BEFB85F4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799A601-88A3-4E10-9DD0-A7B47B5699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5457852-FC65-42E5-90AB-0AD523D29E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1D4FCD2-9532-4343-9423-C9E9FC7AEB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6CCB998-70DC-4A68-94CA-AD0813B569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A3B5FFA-2A26-4F55-99F3-6398CFC22E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47D9A57-7B65-4EC7-9F50-00935FD9E6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2582DE-3FE5-4F54-8D8F-91E6402132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FF10D0-B5E7-4806-AD67-98CD6CEB23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05F768-A1D1-46CA-85D3-119CD6F763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43B763-8576-49EB-8E75-2800DAD236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CEF697-BA17-4F70-AC70-4F70EF90A7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BECE32-8F68-4D01-A148-2792D5FA56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A6CEE1-B3DC-4112-9363-EEEC59A329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442D1C-F2D4-4CF8-AAEF-6833CDF6C9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EA0B4A-6375-48AA-B639-6A52478B79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2852C6-C729-4430-A291-56EA0F7D6E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3E630C-4822-4C45-9402-A3C90BD62D5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www.theinvestorspodcast.com/bitcoin-fundamentals/quantum-computing-and-bitcoin-w-charles-edwards/" TargetMode="External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quantum.cloud.ibm.com/learning/en/courses/utility-scale-quantum-computing/bits-gates-and-circuits" TargetMode="External"/><Relationship Id="rId3" Type="http://schemas.openxmlformats.org/officeDocument/2006/relationships/hyperlink" Target="https://www.classiq.io/insights/the-deutsch-jozsa-algorithm-explained" TargetMode="External"/><Relationship Id="rId4" Type="http://schemas.openxmlformats.org/officeDocument/2006/relationships/hyperlink" Target="https://bitcoinmagazine.com/technical/the-quantum-bitcoin-summit-a-grounded-look-at-the-issues" TargetMode="External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learn.microsoft.com/en-us/azure/quantum/concepts-grovers" TargetMode="External"/><Relationship Id="rId3" Type="http://schemas.openxmlformats.org/officeDocument/2006/relationships/hyperlink" Target="https://arxiv.org/abs/1706.06752" TargetMode="External"/><Relationship Id="rId4" Type="http://schemas.openxmlformats.org/officeDocument/2006/relationships/hyperlink" Target="https://www.nature.com/articles/s41598-024-54434-w" TargetMode="External"/><Relationship Id="rId5" Type="http://schemas.openxmlformats.org/officeDocument/2006/relationships/hyperlink" Target="https://link.springer.com/article/10.1007/s11128-025-04916-1" TargetMode="External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learnmeabitcoin.com/technical/cryptography/elliptic-curve/" TargetMode="External"/><Relationship Id="rId3" Type="http://schemas.openxmlformats.org/officeDocument/2006/relationships/hyperlink" Target="https://learnmeabitcoin.com/beginners/guide/digital-signatures/" TargetMode="External"/><Relationship Id="rId4" Type="http://schemas.openxmlformats.org/officeDocument/2006/relationships/hyperlink" Target="https://learnmeabitcoin.com/technical/cryptography/hash-function/" TargetMode="External"/><Relationship Id="rId5" Type="http://schemas.openxmlformats.org/officeDocument/2006/relationships/hyperlink" Target="https://learnmeabitcoin.com/technical/mining/memory-pool/" TargetMode="External"/><Relationship Id="rId6" Type="http://schemas.openxmlformats.org/officeDocument/2006/relationships/hyperlink" Target="https://learnmeabitcoin.com/technical/script/p2tr/" TargetMode="External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lobalriskinstitute.org/publication/quantum-threat-timeline-2025-executive-perspectives-on-barriers-to-action/" TargetMode="External"/><Relationship Id="rId3" Type="http://schemas.openxmlformats.org/officeDocument/2006/relationships/hyperlink" Target="https://www.theinvestorspodcast.com/bitcoin-fundamentals/quantum-computing-and-bitcoin-w-charles-edwards/" TargetMode="External"/><Relationship Id="rId4" Type="http://schemas.openxmlformats.org/officeDocument/2006/relationships/hyperlink" Target="https://www.tradingview.com/news/cointelegraph%253A30729863f094b%253A0-bitcoin-may-take-7-years-to-upgrade-to-post-quantum-bip-360-co-author/" TargetMode="External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bip360.org/bip360.html" TargetMode="External"/><Relationship Id="rId3" Type="http://schemas.openxmlformats.org/officeDocument/2006/relationships/hyperlink" Target="https://github.com/bitcoin/bips/blob/master/bip-0360.mediawiki" TargetMode="External"/><Relationship Id="rId4" Type="http://schemas.openxmlformats.org/officeDocument/2006/relationships/hyperlink" Target="https://www.bitmex.com/blog/Taproot-Quantum-Spend-Paths" TargetMode="External"/><Relationship Id="rId5" Type="http://schemas.openxmlformats.org/officeDocument/2006/relationships/hyperlink" Target="https://www.tradingview.com/news/cointelegraph:d4cc2ff14094b:0-bitcoin-faces-6-massive-challenges-to-become-quantum-secure/" TargetMode="External"/><Relationship Id="rId6" Type="http://schemas.openxmlformats.org/officeDocument/2006/relationships/hyperlink" Target="https://bitcoinmagazine.com/news/bitcoin-advances-toward-quantum-resistance" TargetMode="External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csrc.nist.gov/pubs/fips/204/final" TargetMode="External"/><Relationship Id="rId3" Type="http://schemas.openxmlformats.org/officeDocument/2006/relationships/hyperlink" Target="https://csrc.nist.gov/pubs/fips/205/final" TargetMode="External"/><Relationship Id="rId4" Type="http://schemas.openxmlformats.org/officeDocument/2006/relationships/hyperlink" Target="https://pqc.metamui.id/signatures/ecc_dss" TargetMode="External"/><Relationship Id="rId5" Type="http://schemas.openxmlformats.org/officeDocument/2006/relationships/hyperlink" Target="https://asecuritysite.com/pqc/dilbenchmark" TargetMode="External"/><Relationship Id="rId6" Type="http://schemas.openxmlformats.org/officeDocument/2006/relationships/hyperlink" Target="https://huelsing.net/wordpress/?page_id=1474" TargetMode="External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ithub.com/slh-dsa/sloth" TargetMode="External"/><Relationship Id="rId3" Type="http://schemas.openxmlformats.org/officeDocument/2006/relationships/hyperlink" Target="https://chaincode.com/bitcoin-post-quantum.pdf" TargetMode="External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ithub.com/cryptoquick/bips/blob/hourglass-v2/bip-hourglass-v2.mediawiki" TargetMode="External"/><Relationship Id="rId3" Type="http://schemas.openxmlformats.org/officeDocument/2006/relationships/hyperlink" Target="https://blog.lopp.net/against-quantum-recovery-of-bitcoin/" TargetMode="External"/><Relationship Id="rId4" Type="http://schemas.openxmlformats.org/officeDocument/2006/relationships/hyperlink" Target="https://www.coindesk.com/business/2026/02/22/to-freeze-or-not-to-freeze-satoshi-and-the-usd440-billion-in-bitcoin-threatened-by-quantum-computing" TargetMode="External"/><Relationship Id="rId5" Type="http://schemas.openxmlformats.org/officeDocument/2006/relationships/hyperlink" Target="https://cointelegraph-magazine.com/bitcoin-may-face-hard-fork-over-any-attempt-to-freeze-satoshis-coins/" TargetMode="External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www.frontiersin.org/journals/quantum-science-and-technology/articles/10.3389/frqst.2025.1723319/full" TargetMode="External"/><Relationship Id="rId3" Type="http://schemas.openxmlformats.org/officeDocument/2006/relationships/hyperlink" Target="https://en.wikipedia.org/wiki/Harvest_now,_decrypt_later" TargetMode="External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www.federalreserve.gov/econres/feds/harvest-now-decrypt-later-examining-post-quantum-cryptography-and-the-data-privacy-risks-for-distributed-ledger-networks.htm" TargetMode="External"/><Relationship Id="rId3" Type="http://schemas.openxmlformats.org/officeDocument/2006/relationships/hyperlink" Target="https://www.mckinsey.com/industries/life-sciences/our-insights/the-quantum-revolution-in-pharma-faster-smarter-and-more-precise" TargetMode="External"/><Relationship Id="rId4" Type="http://schemas.openxmlformats.org/officeDocument/2006/relationships/hyperlink" Target="https://www.nature.com/articles/s44386-025-00033-2" TargetMode="External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4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85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228600" y="229680"/>
            <a:ext cx="102366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</a:rPr>
              <a:t>The Quantum Threat to Bitcoin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1937880" y="1371600"/>
            <a:ext cx="7206120" cy="480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9" name="Picture 8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90" name="TextBox 26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27"/>
          <p:cNvSpPr/>
          <p:nvPr/>
        </p:nvSpPr>
        <p:spPr>
          <a:xfrm>
            <a:off x="498960" y="914400"/>
            <a:ext cx="10574640" cy="15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85800" y="1532160"/>
            <a:ext cx="10574280" cy="14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500" spc="-1" strike="noStrike">
                <a:solidFill>
                  <a:srgbClr val="ffffff"/>
                </a:solidFill>
                <a:latin typeface="Arial"/>
              </a:rPr>
              <a:t>Is Bitcoin fucked?</a:t>
            </a:r>
            <a:endParaRPr b="0" lang="en-US" sz="9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029200" y="3589560"/>
            <a:ext cx="1828800" cy="14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500" spc="-1" strike="noStrike">
                <a:solidFill>
                  <a:srgbClr val="f7931a"/>
                </a:solidFill>
                <a:latin typeface="Arial"/>
              </a:rPr>
              <a:t>No</a:t>
            </a:r>
            <a:endParaRPr b="0" lang="en-US" sz="9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629400" y="3628080"/>
            <a:ext cx="4572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f7931a"/>
                </a:solidFill>
                <a:latin typeface="Arial"/>
              </a:rPr>
              <a:t>*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6" name="Picture 5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97" name="TextBox 22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5"/>
          <p:cNvSpPr/>
          <p:nvPr/>
        </p:nvSpPr>
        <p:spPr>
          <a:xfrm>
            <a:off x="640080" y="2286000"/>
            <a:ext cx="10789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3000" spc="-1" strike="noStrike">
                <a:solidFill>
                  <a:srgbClr val="f5f0e8"/>
                </a:solidFill>
                <a:latin typeface="Arial"/>
              </a:rPr>
              <a:t>What’s the threat → How we fix it → What you can do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0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01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4213800" y="228600"/>
            <a:ext cx="24534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Talk map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640080" y="1600200"/>
            <a:ext cx="5486040" cy="46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1. What is quantum computing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2. The QC threat to Bitcoin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3. Revision: sigs, hashes, mempool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4. When is it coming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5. Two big problems: tech &amp; social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6. BIP360 as the first step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7. Legacy coins dilemma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8. What you can do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9. Myth-busters &amp; perspective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6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07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1602360" y="228600"/>
            <a:ext cx="76762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What is quantum computing?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457200" y="1449000"/>
            <a:ext cx="46418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Quantum mechanical phenomena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9"/>
          <p:cNvSpPr/>
          <p:nvPr/>
        </p:nvSpPr>
        <p:spPr>
          <a:xfrm>
            <a:off x="457560" y="2057400"/>
            <a:ext cx="54860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Superposition: many states at once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Entanglement: correlated states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Interference: amplify right answers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23"/>
          <p:cNvSpPr/>
          <p:nvPr/>
        </p:nvSpPr>
        <p:spPr>
          <a:xfrm>
            <a:off x="7225560" y="1434960"/>
            <a:ext cx="2147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How they work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24"/>
          <p:cNvSpPr/>
          <p:nvPr/>
        </p:nvSpPr>
        <p:spPr>
          <a:xfrm>
            <a:off x="5715000" y="1966320"/>
            <a:ext cx="61722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Qubit: 0 and 1 at the same time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Circuit: superposition &amp; entanglement gates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Measure: interference amplifies right answer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28"/>
          <p:cNvSpPr/>
          <p:nvPr/>
        </p:nvSpPr>
        <p:spPr>
          <a:xfrm>
            <a:off x="1600200" y="3917880"/>
            <a:ext cx="21639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Fault tolerance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29"/>
          <p:cNvSpPr/>
          <p:nvPr/>
        </p:nvSpPr>
        <p:spPr>
          <a:xfrm>
            <a:off x="228960" y="4519440"/>
            <a:ext cx="5486040" cy="16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Qubits are fragile and can’t be copied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Physical qubits vs Logical qubits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CRQC requires ~2300 logical qubits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2"/>
          <a:stretch/>
        </p:blipFill>
        <p:spPr>
          <a:xfrm>
            <a:off x="5715000" y="3777480"/>
            <a:ext cx="5609880" cy="225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" dur="indefinite" restart="never" nodeType="tmRoot">
          <p:childTnLst>
            <p:seq>
              <p:cTn id="10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-40680" y="-35784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8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19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2282760" y="228600"/>
            <a:ext cx="63151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The QC threat to Bitcoin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457200" y="1631880"/>
            <a:ext cx="4136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Shor's algorithm  (signatures)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6400800" y="1631880"/>
            <a:ext cx="40748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Grover's algorithm  (hashing)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640440" y="4800600"/>
            <a:ext cx="5303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9600" indent="-219600" defTabSz="457200">
              <a:lnSpc>
                <a:spcPct val="100000"/>
              </a:lnSpc>
              <a:spcAft>
                <a:spcPts val="901"/>
              </a:spcAft>
              <a:buClr>
                <a:srgbClr val="f5f0e8"/>
              </a:buClr>
              <a:buSzPct val="6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Breaks ECC and RSA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 indent="-219600" defTabSz="457200">
              <a:lnSpc>
                <a:spcPct val="100000"/>
              </a:lnSpc>
              <a:spcAft>
                <a:spcPts val="901"/>
              </a:spcAft>
              <a:buClr>
                <a:srgbClr val="f5f0e8"/>
              </a:buClr>
              <a:buSzPct val="6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Derives private key from public key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 indent="-219600" defTabSz="457200">
              <a:lnSpc>
                <a:spcPct val="100000"/>
              </a:lnSpc>
              <a:spcAft>
                <a:spcPts val="901"/>
              </a:spcAft>
              <a:buClr>
                <a:srgbClr val="f5f0e8"/>
              </a:buClr>
              <a:buSzPct val="6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Exponential speedup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6126840" y="4747320"/>
            <a:ext cx="5303160" cy="16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Aft>
                <a:spcPts val="901"/>
              </a:spcAft>
              <a:buClr>
                <a:srgbClr val="f5f0e8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Targets SHA-256 / RIPEMD-160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901"/>
              </a:spcAft>
              <a:buClr>
                <a:srgbClr val="f5f0e8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Quadratic speedup only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901"/>
              </a:spcAft>
              <a:buClr>
                <a:srgbClr val="f5f0e8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256-bit -&gt; ~128-bit effective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901"/>
              </a:spcAft>
              <a:buClr>
                <a:srgbClr val="f5f0e8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Quantum mining favors centralisation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1371600" y="2151360"/>
            <a:ext cx="2090880" cy="219204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3"/>
          <a:stretch/>
        </p:blipFill>
        <p:spPr>
          <a:xfrm>
            <a:off x="7457760" y="2240280"/>
            <a:ext cx="1686240" cy="233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6000" spc="-1" strike="noStrike">
                <a:solidFill>
                  <a:schemeClr val="lt1"/>
                </a:solidFill>
                <a:latin typeface="Calibri"/>
              </a:rPr>
              <a:t>Long exposure</a:t>
            </a: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  <a:p>
            <a:pPr algn="ctr"/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  <a:p>
            <a:pPr algn="ctr"/>
            <a:r>
              <a:rPr b="0" lang="en-US" sz="6000" spc="-1" strike="noStrike">
                <a:solidFill>
                  <a:schemeClr val="lt1"/>
                </a:solidFill>
                <a:latin typeface="Calibri"/>
              </a:rPr>
              <a:t>Short exposure</a:t>
            </a: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9" name="Picture 9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30" name="TextBox 30"/>
          <p:cNvSpPr/>
          <p:nvPr/>
        </p:nvSpPr>
        <p:spPr>
          <a:xfrm>
            <a:off x="5486400" y="662940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31"/>
          <p:cNvSpPr/>
          <p:nvPr/>
        </p:nvSpPr>
        <p:spPr>
          <a:xfrm>
            <a:off x="2346480" y="228600"/>
            <a:ext cx="61858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Two types of QC attack 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12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32"/>
          <p:cNvSpPr/>
          <p:nvPr/>
        </p:nvSpPr>
        <p:spPr>
          <a:xfrm>
            <a:off x="640080" y="2286000"/>
            <a:ext cx="5486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5" name="Picture 3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36" name="TextBox 1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7"/>
          <p:cNvSpPr/>
          <p:nvPr/>
        </p:nvSpPr>
        <p:spPr>
          <a:xfrm>
            <a:off x="875160" y="228600"/>
            <a:ext cx="91299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Long exposure attack vulnerability 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4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640080" y="2286000"/>
            <a:ext cx="5486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457200" y="1600200"/>
            <a:ext cx="11529720" cy="430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                                                                                                                      </a:t>
            </a:r>
            <a:r>
              <a:rPr b="0" lang="en-US" sz="3600" spc="-1" strike="noStrike">
                <a:solidFill>
                  <a:schemeClr val="lt1"/>
                </a:solidFill>
                <a:latin typeface="Calibri"/>
              </a:rPr>
              <a:t>6,874,398 BTC</a:t>
            </a:r>
            <a:endParaRPr b="0" lang="en-US" sz="36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2" name="Picture 6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43" name="TextBox 37"/>
          <p:cNvSpPr/>
          <p:nvPr/>
        </p:nvSpPr>
        <p:spPr>
          <a:xfrm>
            <a:off x="5486400" y="662940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38"/>
          <p:cNvSpPr/>
          <p:nvPr/>
        </p:nvSpPr>
        <p:spPr>
          <a:xfrm>
            <a:off x="5272920" y="228600"/>
            <a:ext cx="3290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16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39"/>
          <p:cNvSpPr/>
          <p:nvPr/>
        </p:nvSpPr>
        <p:spPr>
          <a:xfrm>
            <a:off x="640080" y="2286000"/>
            <a:ext cx="5486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2"/>
          <a:stretch/>
        </p:blipFill>
        <p:spPr>
          <a:xfrm>
            <a:off x="457200" y="1371600"/>
            <a:ext cx="7394040" cy="5486400"/>
          </a:xfrm>
          <a:prstGeom prst="rect">
            <a:avLst/>
          </a:prstGeom>
          <a:ln w="0">
            <a:noFill/>
          </a:ln>
        </p:spPr>
      </p:pic>
      <p:sp>
        <p:nvSpPr>
          <p:cNvPr id="148" name="TextBox 43"/>
          <p:cNvSpPr/>
          <p:nvPr/>
        </p:nvSpPr>
        <p:spPr>
          <a:xfrm>
            <a:off x="875160" y="228600"/>
            <a:ext cx="91299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Long exposure attack vulnerability 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0" name="Picture 1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51" name="TextBox 1"/>
          <p:cNvSpPr/>
          <p:nvPr/>
        </p:nvSpPr>
        <p:spPr>
          <a:xfrm>
            <a:off x="5486400" y="662940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2831400" y="228600"/>
            <a:ext cx="52164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When is it coming? 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20"/>
          <p:cNvSpPr/>
          <p:nvPr/>
        </p:nvSpPr>
        <p:spPr>
          <a:xfrm>
            <a:off x="640080" y="2286000"/>
            <a:ext cx="5486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1187640" y="1143000"/>
            <a:ext cx="8413560" cy="520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6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57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2905200" y="228600"/>
            <a:ext cx="50702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When is it coming?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2081520" y="1371600"/>
            <a:ext cx="67176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f4c27a"/>
                </a:solidFill>
                <a:latin typeface="Arial"/>
              </a:rPr>
              <a:t>GRI Quantum Threat Timeline Report 2025  —  26 experts surveyed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ounded Rectangle 7"/>
          <p:cNvSpPr/>
          <p:nvPr/>
        </p:nvSpPr>
        <p:spPr>
          <a:xfrm>
            <a:off x="594360" y="2103120"/>
            <a:ext cx="3535200" cy="2011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600">
            <a:solidFill>
              <a:srgbClr val="2a2a2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8"/>
          <p:cNvSpPr/>
          <p:nvPr/>
        </p:nvSpPr>
        <p:spPr>
          <a:xfrm>
            <a:off x="1583280" y="2331720"/>
            <a:ext cx="15573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7931a"/>
                </a:solidFill>
                <a:latin typeface="Arial"/>
              </a:rPr>
              <a:t>~15%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1657080" y="3154680"/>
            <a:ext cx="1409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Optimistic avg</a:t>
            </a:r>
            <a:br>
              <a:rPr sz="1400"/>
            </a:b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within 5 years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10"/>
          <p:cNvSpPr/>
          <p:nvPr/>
        </p:nvSpPr>
        <p:spPr>
          <a:xfrm>
            <a:off x="4312800" y="2103120"/>
            <a:ext cx="3535200" cy="2011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600">
            <a:solidFill>
              <a:srgbClr val="2a2a2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11"/>
          <p:cNvSpPr/>
          <p:nvPr/>
        </p:nvSpPr>
        <p:spPr>
          <a:xfrm>
            <a:off x="5301720" y="2331720"/>
            <a:ext cx="15573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7931a"/>
                </a:solidFill>
                <a:latin typeface="Arial"/>
              </a:rPr>
              <a:t>~49%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12"/>
          <p:cNvSpPr/>
          <p:nvPr/>
        </p:nvSpPr>
        <p:spPr>
          <a:xfrm>
            <a:off x="5351040" y="3154680"/>
            <a:ext cx="1458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Optimistic avg</a:t>
            </a:r>
            <a:br>
              <a:rPr sz="1400"/>
            </a:b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within 10 years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ounded Rectangle 13"/>
          <p:cNvSpPr/>
          <p:nvPr/>
        </p:nvSpPr>
        <p:spPr>
          <a:xfrm>
            <a:off x="8031600" y="2103120"/>
            <a:ext cx="3535200" cy="2011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600">
            <a:solidFill>
              <a:srgbClr val="2a2a2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14"/>
          <p:cNvSpPr/>
          <p:nvPr/>
        </p:nvSpPr>
        <p:spPr>
          <a:xfrm>
            <a:off x="9020520" y="2331720"/>
            <a:ext cx="15573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7931a"/>
                </a:solidFill>
                <a:latin typeface="Arial"/>
              </a:rPr>
              <a:t>~28%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5"/>
          <p:cNvSpPr/>
          <p:nvPr/>
        </p:nvSpPr>
        <p:spPr>
          <a:xfrm>
            <a:off x="9039600" y="3154680"/>
            <a:ext cx="15192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Pessimistic avg</a:t>
            </a:r>
            <a:br>
              <a:rPr sz="1400"/>
            </a:b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within 10 years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36"/>
          <p:cNvSpPr/>
          <p:nvPr/>
        </p:nvSpPr>
        <p:spPr>
          <a:xfrm>
            <a:off x="1932480" y="4750560"/>
            <a:ext cx="743976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f4c27a"/>
                </a:solidFill>
                <a:latin typeface="Arial"/>
              </a:rPr>
              <a:t>Also look at </a:t>
            </a:r>
            <a:r>
              <a:rPr b="0" lang="en-US" sz="1700" spc="-1" strike="noStrike">
                <a:solidFill>
                  <a:srgbClr val="f4c27a"/>
                </a:solidFill>
                <a:latin typeface="Arial"/>
                <a:hlinkClick r:id="rId2"/>
              </a:rPr>
              <a:t>Bitcoin Fundamentals 11 Nov 25</a:t>
            </a:r>
            <a:r>
              <a:rPr b="0" lang="en-US" sz="1700" spc="-1" strike="noStrike">
                <a:solidFill>
                  <a:srgbClr val="f4c27a"/>
                </a:solidFill>
                <a:latin typeface="Arial"/>
              </a:rPr>
              <a:t> podcast with Charles Edwards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2" name="Picture 13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73" name="TextBox 47"/>
          <p:cNvSpPr/>
          <p:nvPr/>
        </p:nvSpPr>
        <p:spPr>
          <a:xfrm>
            <a:off x="5486400" y="662940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48"/>
          <p:cNvSpPr/>
          <p:nvPr/>
        </p:nvSpPr>
        <p:spPr>
          <a:xfrm>
            <a:off x="2831400" y="228600"/>
            <a:ext cx="52164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When is it coming? 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49"/>
          <p:cNvSpPr/>
          <p:nvPr/>
        </p:nvSpPr>
        <p:spPr>
          <a:xfrm>
            <a:off x="640080" y="2286000"/>
            <a:ext cx="5486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2"/>
          <a:stretch/>
        </p:blipFill>
        <p:spPr>
          <a:xfrm>
            <a:off x="1478160" y="1023120"/>
            <a:ext cx="7665840" cy="550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8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79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4"/>
          <p:cNvSpPr/>
          <p:nvPr/>
        </p:nvSpPr>
        <p:spPr>
          <a:xfrm>
            <a:off x="2904840" y="228600"/>
            <a:ext cx="50688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When is it coming?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6"/>
          <p:cNvSpPr/>
          <p:nvPr/>
        </p:nvSpPr>
        <p:spPr>
          <a:xfrm>
            <a:off x="3017520" y="1371600"/>
            <a:ext cx="484596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f4c27a"/>
                </a:solidFill>
                <a:latin typeface="Arial"/>
              </a:rPr>
              <a:t>Optimistic vs pessimistic probability assignments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Picture 7" descr="gri-curve.png"/>
          <p:cNvPicPr/>
          <p:nvPr/>
        </p:nvPicPr>
        <p:blipFill>
          <a:blip r:embed="rId2"/>
          <a:stretch/>
        </p:blipFill>
        <p:spPr>
          <a:xfrm>
            <a:off x="457200" y="1737360"/>
            <a:ext cx="1124676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5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186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1704600" y="228600"/>
            <a:ext cx="74718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Government policy timelines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ounded Rectangle 7"/>
          <p:cNvSpPr/>
          <p:nvPr/>
        </p:nvSpPr>
        <p:spPr>
          <a:xfrm>
            <a:off x="594360" y="2103120"/>
            <a:ext cx="3535200" cy="2011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600">
            <a:solidFill>
              <a:srgbClr val="2a2a2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1678320" y="2331720"/>
            <a:ext cx="13669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7931a"/>
                </a:solidFill>
                <a:latin typeface="Arial"/>
              </a:rPr>
              <a:t>2030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9"/>
          <p:cNvSpPr/>
          <p:nvPr/>
        </p:nvSpPr>
        <p:spPr>
          <a:xfrm>
            <a:off x="1375200" y="3154680"/>
            <a:ext cx="19731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CNSA 2.0</a:t>
            </a:r>
            <a:br>
              <a:rPr sz="1400"/>
            </a:b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PQC mandate begins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ounded Rectangle 10"/>
          <p:cNvSpPr/>
          <p:nvPr/>
        </p:nvSpPr>
        <p:spPr>
          <a:xfrm>
            <a:off x="4312800" y="2103120"/>
            <a:ext cx="3535200" cy="2011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600">
            <a:solidFill>
              <a:srgbClr val="2a2a2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11"/>
          <p:cNvSpPr/>
          <p:nvPr/>
        </p:nvSpPr>
        <p:spPr>
          <a:xfrm>
            <a:off x="5396760" y="2331720"/>
            <a:ext cx="13669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7931a"/>
                </a:solidFill>
                <a:latin typeface="Arial"/>
              </a:rPr>
              <a:t>2033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12"/>
          <p:cNvSpPr/>
          <p:nvPr/>
        </p:nvSpPr>
        <p:spPr>
          <a:xfrm>
            <a:off x="5113440" y="3154680"/>
            <a:ext cx="19335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CNSA 2.0</a:t>
            </a:r>
            <a:br>
              <a:rPr sz="1400"/>
            </a:b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full browser/OS PQC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13"/>
          <p:cNvSpPr/>
          <p:nvPr/>
        </p:nvSpPr>
        <p:spPr>
          <a:xfrm>
            <a:off x="8031600" y="2103120"/>
            <a:ext cx="3535200" cy="2011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600">
            <a:solidFill>
              <a:srgbClr val="2a2a2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14"/>
          <p:cNvSpPr/>
          <p:nvPr/>
        </p:nvSpPr>
        <p:spPr>
          <a:xfrm>
            <a:off x="9115560" y="2331720"/>
            <a:ext cx="13669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7931a"/>
                </a:solidFill>
                <a:latin typeface="Arial"/>
              </a:rPr>
              <a:t>2035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5"/>
          <p:cNvSpPr/>
          <p:nvPr/>
        </p:nvSpPr>
        <p:spPr>
          <a:xfrm>
            <a:off x="9144000" y="3154680"/>
            <a:ext cx="1310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NIST IR 8547</a:t>
            </a:r>
            <a:br>
              <a:rPr sz="1400"/>
            </a:b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disallow ECC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16"/>
          <p:cNvSpPr/>
          <p:nvPr/>
        </p:nvSpPr>
        <p:spPr>
          <a:xfrm>
            <a:off x="1641960" y="4754880"/>
            <a:ext cx="87854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f4c27a"/>
                </a:solidFill>
                <a:latin typeface="Arial"/>
              </a:rPr>
              <a:t>Bitcoin doesn't answer to regulators — but enterprise/institutional users will demand PQC.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0" name="Picture 10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01" name="TextBox 3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34"/>
          <p:cNvSpPr/>
          <p:nvPr/>
        </p:nvSpPr>
        <p:spPr>
          <a:xfrm>
            <a:off x="3262320" y="228600"/>
            <a:ext cx="43585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Bitcoin Revision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 14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35"/>
          <p:cNvSpPr/>
          <p:nvPr/>
        </p:nvSpPr>
        <p:spPr>
          <a:xfrm>
            <a:off x="640080" y="1920240"/>
            <a:ext cx="10332720" cy="34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Public key cryptography: ECC, signature algorithms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Hashing: mining, address compression, check sums, key derivation, Merkle trees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Public key hidden by hash until first spend (P2PKH/P2SH/P2WSH)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Public key exposed on receive (P2PK, P2TR key-path)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Mempool window: tx waits ~10 min before confirmation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400" spc="-1" strike="noStrike">
                <a:solidFill>
                  <a:srgbClr val="f5f0e8"/>
                </a:solidFill>
                <a:latin typeface="Arial"/>
              </a:rPr>
              <a:t>When your public key is visible = your quantum exposure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6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07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1616040" y="228600"/>
            <a:ext cx="76485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The two big Bitcoin problems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640080" y="2286000"/>
            <a:ext cx="1005804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3200" spc="-1" strike="noStrike">
                <a:solidFill>
                  <a:srgbClr val="f5f0e8"/>
                </a:solidFill>
                <a:latin typeface="Arial"/>
              </a:rPr>
              <a:t>1.  Technical:  add post-quantum cryptography to Bitcoin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3200" spc="-1" strike="noStrike">
                <a:solidFill>
                  <a:srgbClr val="f5f0e8"/>
                </a:solidFill>
                <a:latin typeface="Arial"/>
              </a:rPr>
              <a:t>2.  Social:  what happens to legacy coins that don't upgrade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2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13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4"/>
          <p:cNvSpPr/>
          <p:nvPr/>
        </p:nvSpPr>
        <p:spPr>
          <a:xfrm>
            <a:off x="1245600" y="228600"/>
            <a:ext cx="83894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Post-quantum signature options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7"/>
          <p:cNvSpPr/>
          <p:nvPr/>
        </p:nvSpPr>
        <p:spPr>
          <a:xfrm>
            <a:off x="1839960" y="1874520"/>
            <a:ext cx="26287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NIST standardised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8"/>
          <p:cNvSpPr/>
          <p:nvPr/>
        </p:nvSpPr>
        <p:spPr>
          <a:xfrm>
            <a:off x="7894800" y="1874520"/>
            <a:ext cx="20404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Other families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9"/>
          <p:cNvSpPr/>
          <p:nvPr/>
        </p:nvSpPr>
        <p:spPr>
          <a:xfrm>
            <a:off x="640080" y="2377440"/>
            <a:ext cx="5303160" cy="16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ML-DSA (Dilithium) — lattice-based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SLH-DSA (SPHINCS+) — hash-based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Conservative, well-studied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Compact sigs, larger public keys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10"/>
          <p:cNvSpPr/>
          <p:nvPr/>
        </p:nvSpPr>
        <p:spPr>
          <a:xfrm>
            <a:off x="6400800" y="2377440"/>
            <a:ext cx="4845960" cy="16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Code-based (McEliece) — huge keys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Multivariate (Rainbow — broken)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Isogeny (SIKE — broken)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Active research, real risks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1" name="Picture 11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22" name="TextBox 40"/>
          <p:cNvSpPr/>
          <p:nvPr/>
        </p:nvSpPr>
        <p:spPr>
          <a:xfrm>
            <a:off x="5486400" y="662940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41"/>
          <p:cNvSpPr/>
          <p:nvPr/>
        </p:nvSpPr>
        <p:spPr>
          <a:xfrm>
            <a:off x="2266920" y="228600"/>
            <a:ext cx="63442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Signature Comparisons 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 18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42"/>
          <p:cNvSpPr/>
          <p:nvPr/>
        </p:nvSpPr>
        <p:spPr>
          <a:xfrm>
            <a:off x="640080" y="2286000"/>
            <a:ext cx="5486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2"/>
          <a:stretch/>
        </p:blipFill>
        <p:spPr>
          <a:xfrm>
            <a:off x="628920" y="1410120"/>
            <a:ext cx="10178640" cy="499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8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29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4"/>
          <p:cNvSpPr/>
          <p:nvPr/>
        </p:nvSpPr>
        <p:spPr>
          <a:xfrm>
            <a:off x="1764000" y="228600"/>
            <a:ext cx="73530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BIP-360: Pay-to-Merkle-Root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Rounded Rectangle 7"/>
          <p:cNvSpPr/>
          <p:nvPr/>
        </p:nvSpPr>
        <p:spPr>
          <a:xfrm>
            <a:off x="594360" y="2103120"/>
            <a:ext cx="3535200" cy="2011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600">
            <a:solidFill>
              <a:srgbClr val="2a2a2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8"/>
          <p:cNvSpPr/>
          <p:nvPr/>
        </p:nvSpPr>
        <p:spPr>
          <a:xfrm>
            <a:off x="1530720" y="2331720"/>
            <a:ext cx="16624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7931a"/>
                </a:solidFill>
                <a:latin typeface="Arial"/>
              </a:rPr>
              <a:t>P2MR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9"/>
          <p:cNvSpPr/>
          <p:nvPr/>
        </p:nvSpPr>
        <p:spPr>
          <a:xfrm>
            <a:off x="1554120" y="3154680"/>
            <a:ext cx="16153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New output type</a:t>
            </a:r>
            <a:br>
              <a:rPr sz="1400"/>
            </a:b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SegWit version 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ounded Rectangle 10"/>
          <p:cNvSpPr/>
          <p:nvPr/>
        </p:nvSpPr>
        <p:spPr>
          <a:xfrm>
            <a:off x="4312800" y="2103120"/>
            <a:ext cx="3535200" cy="2011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600">
            <a:solidFill>
              <a:srgbClr val="2a2a2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11"/>
          <p:cNvSpPr/>
          <p:nvPr/>
        </p:nvSpPr>
        <p:spPr>
          <a:xfrm>
            <a:off x="5175360" y="2331720"/>
            <a:ext cx="18100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7931a"/>
                </a:solidFill>
                <a:latin typeface="Arial"/>
              </a:rPr>
              <a:t>bc1z...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12"/>
          <p:cNvSpPr/>
          <p:nvPr/>
        </p:nvSpPr>
        <p:spPr>
          <a:xfrm>
            <a:off x="5266800" y="3154680"/>
            <a:ext cx="16272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New address</a:t>
            </a:r>
            <a:br>
              <a:rPr sz="1400"/>
            </a:b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prefix (Bech32m)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ounded Rectangle 13"/>
          <p:cNvSpPr/>
          <p:nvPr/>
        </p:nvSpPr>
        <p:spPr>
          <a:xfrm>
            <a:off x="8031600" y="2103120"/>
            <a:ext cx="3535200" cy="2011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600">
            <a:solidFill>
              <a:srgbClr val="2a2a2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14"/>
          <p:cNvSpPr/>
          <p:nvPr/>
        </p:nvSpPr>
        <p:spPr>
          <a:xfrm>
            <a:off x="8612640" y="2331720"/>
            <a:ext cx="23727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7931a"/>
                </a:solidFill>
                <a:latin typeface="Arial"/>
              </a:rPr>
              <a:t>Soft fork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9238320" y="3154680"/>
            <a:ext cx="1121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Backward</a:t>
            </a:r>
            <a:br>
              <a:rPr sz="1400"/>
            </a:br>
            <a:r>
              <a:rPr b="1" lang="en-US" sz="1400" spc="-1" strike="noStrike">
                <a:solidFill>
                  <a:srgbClr val="f5f0e8"/>
                </a:solidFill>
                <a:latin typeface="Arial"/>
              </a:rPr>
              <a:t>compatible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16"/>
          <p:cNvSpPr/>
          <p:nvPr/>
        </p:nvSpPr>
        <p:spPr>
          <a:xfrm>
            <a:off x="640080" y="4572000"/>
            <a:ext cx="10515240" cy="12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f0e8"/>
                </a:solidFill>
                <a:latin typeface="Arial"/>
              </a:rPr>
              <a:t>Removes key-path spend — no public key exposed on-chain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f0e8"/>
                </a:solidFill>
                <a:latin typeface="Arial"/>
              </a:rPr>
              <a:t>Reuses battle-tested tapscript (BIPs 340/341/342)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f0e8"/>
                </a:solidFill>
                <a:latin typeface="Arial"/>
              </a:rPr>
              <a:t>Creates safe upgrade path for future PQC opcodes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3" name="Picture 4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44" name="TextBox 5"/>
          <p:cNvSpPr/>
          <p:nvPr/>
        </p:nvSpPr>
        <p:spPr>
          <a:xfrm>
            <a:off x="5486400" y="662940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18"/>
          <p:cNvSpPr/>
          <p:nvPr/>
        </p:nvSpPr>
        <p:spPr>
          <a:xfrm>
            <a:off x="3335760" y="228600"/>
            <a:ext cx="42091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P2TR Structure 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 8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21"/>
          <p:cNvSpPr/>
          <p:nvPr/>
        </p:nvSpPr>
        <p:spPr>
          <a:xfrm>
            <a:off x="640080" y="2286000"/>
            <a:ext cx="5486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" descr=""/>
          <p:cNvPicPr/>
          <p:nvPr/>
        </p:nvPicPr>
        <p:blipFill>
          <a:blip r:embed="rId2"/>
          <a:stretch/>
        </p:blipFill>
        <p:spPr>
          <a:xfrm>
            <a:off x="810000" y="1828800"/>
            <a:ext cx="8334000" cy="480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50" name="Picture 1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51" name="TextBox 44"/>
          <p:cNvSpPr/>
          <p:nvPr/>
        </p:nvSpPr>
        <p:spPr>
          <a:xfrm>
            <a:off x="5486400" y="662940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45"/>
          <p:cNvSpPr/>
          <p:nvPr/>
        </p:nvSpPr>
        <p:spPr>
          <a:xfrm>
            <a:off x="3276360" y="228600"/>
            <a:ext cx="43279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P2MR Structure 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ectangle 20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46"/>
          <p:cNvSpPr/>
          <p:nvPr/>
        </p:nvSpPr>
        <p:spPr>
          <a:xfrm>
            <a:off x="640080" y="2286000"/>
            <a:ext cx="5486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" name="" descr=""/>
          <p:cNvPicPr/>
          <p:nvPr/>
        </p:nvPicPr>
        <p:blipFill>
          <a:blip r:embed="rId2"/>
          <a:stretch/>
        </p:blipFill>
        <p:spPr>
          <a:xfrm>
            <a:off x="810000" y="1828800"/>
            <a:ext cx="8334000" cy="4800600"/>
          </a:xfrm>
          <a:prstGeom prst="rect">
            <a:avLst/>
          </a:prstGeom>
          <a:ln w="0">
            <a:noFill/>
          </a:ln>
        </p:spPr>
      </p:pic>
      <p:sp>
        <p:nvSpPr>
          <p:cNvPr id="256" name=""/>
          <p:cNvSpPr/>
          <p:nvPr/>
        </p:nvSpPr>
        <p:spPr>
          <a:xfrm>
            <a:off x="2057400" y="3429000"/>
            <a:ext cx="2971800" cy="3200400"/>
          </a:xfrm>
          <a:custGeom>
            <a:avLst/>
            <a:gdLst/>
            <a:ahLst/>
            <a:rect l="0" t="0" r="r" b="b"/>
            <a:pathLst>
              <a:path w="8255" h="8890">
                <a:moveTo>
                  <a:pt x="0" y="0"/>
                </a:moveTo>
                <a:lnTo>
                  <a:pt x="5715" y="0"/>
                </a:lnTo>
                <a:lnTo>
                  <a:pt x="5715" y="5080"/>
                </a:lnTo>
                <a:lnTo>
                  <a:pt x="8255" y="5080"/>
                </a:lnTo>
                <a:lnTo>
                  <a:pt x="8255" y="8890"/>
                </a:lnTo>
                <a:lnTo>
                  <a:pt x="3175" y="8890"/>
                </a:lnTo>
                <a:lnTo>
                  <a:pt x="3175" y="5715"/>
                </a:lnTo>
                <a:lnTo>
                  <a:pt x="0" y="571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ff0000"/>
            </a:solidFill>
          </a:ln>
        </p:spPr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 flipH="1">
            <a:off x="2057400" y="3429000"/>
            <a:ext cx="685800" cy="68580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 flipH="1">
            <a:off x="2057400" y="3429000"/>
            <a:ext cx="1371600" cy="137160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 flipH="1">
            <a:off x="2057400" y="3657600"/>
            <a:ext cx="2057400" cy="182880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 flipH="1">
            <a:off x="2971800" y="4572000"/>
            <a:ext cx="1143000" cy="91440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 flipH="1">
            <a:off x="3200400" y="5257800"/>
            <a:ext cx="1371600" cy="114300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 flipH="1">
            <a:off x="4114800" y="5943600"/>
            <a:ext cx="914400" cy="68580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4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65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4"/>
          <p:cNvSpPr/>
          <p:nvPr/>
        </p:nvSpPr>
        <p:spPr>
          <a:xfrm>
            <a:off x="2015280" y="228600"/>
            <a:ext cx="68500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BIP-360: design principles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TextBox 7"/>
          <p:cNvSpPr/>
          <p:nvPr/>
        </p:nvSpPr>
        <p:spPr>
          <a:xfrm>
            <a:off x="1536480" y="1600200"/>
            <a:ext cx="14353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Rationale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8"/>
          <p:cNvSpPr/>
          <p:nvPr/>
        </p:nvSpPr>
        <p:spPr>
          <a:xfrm>
            <a:off x="1460160" y="4572000"/>
            <a:ext cx="15116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Trade offs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1991880" y="2124000"/>
            <a:ext cx="7131960" cy="22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100" spc="-1" strike="noStrike">
                <a:solidFill>
                  <a:srgbClr val="f5f0e8"/>
                </a:solidFill>
                <a:latin typeface="Arial"/>
              </a:rPr>
              <a:t>Minimizes changes to the network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100" spc="-1" strike="noStrike">
                <a:solidFill>
                  <a:srgbClr val="f5f0e8"/>
                </a:solidFill>
                <a:latin typeface="Arial"/>
              </a:rPr>
              <a:t>Supports tapscript which assists in implementing PQC required opcodes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100" spc="-1" strike="noStrike">
                <a:solidFill>
                  <a:srgbClr val="f5f0e8"/>
                </a:solidFill>
                <a:latin typeface="Arial"/>
              </a:rPr>
              <a:t>Facilitates gradual integration of PQC without negative impacts before Q-Day.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10"/>
          <p:cNvSpPr/>
          <p:nvPr/>
        </p:nvSpPr>
        <p:spPr>
          <a:xfrm>
            <a:off x="1828800" y="5091120"/>
            <a:ext cx="9144000" cy="13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Size: larger than key path spend, smaller than script path spend</a:t>
            </a:r>
            <a:br>
              <a:rPr sz="2000"/>
            </a:br>
            <a:br>
              <a:rPr sz="2000"/>
            </a:b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Privacy: can’t hide you have other script path spends (compared to key path spend)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" dur="indefinite" restart="never" nodeType="tmRoot">
          <p:childTnLst>
            <p:seq>
              <p:cTn id="66" dur="indefinite" nodeType="mainSeq">
                <p:childTnLst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3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74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1437840" y="228600"/>
            <a:ext cx="80053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BIP-360: witness size tradeoffs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6"/>
          <p:cNvSpPr/>
          <p:nvPr/>
        </p:nvSpPr>
        <p:spPr>
          <a:xfrm>
            <a:off x="2445840" y="1371600"/>
            <a:ext cx="598896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f4c27a"/>
                </a:solidFill>
                <a:latin typeface="Arial"/>
              </a:rPr>
              <a:t>Larger than P2TR key-path — smaller than P2TR script-path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8" name="Picture 7" descr="witness-cmp.png"/>
          <p:cNvPicPr/>
          <p:nvPr/>
        </p:nvPicPr>
        <p:blipFill>
          <a:blip r:embed="rId2"/>
          <a:stretch/>
        </p:blipFill>
        <p:spPr>
          <a:xfrm>
            <a:off x="457200" y="1783080"/>
            <a:ext cx="6583320" cy="4388760"/>
          </a:xfrm>
          <a:prstGeom prst="rect">
            <a:avLst/>
          </a:prstGeom>
          <a:ln w="0">
            <a:noFill/>
          </a:ln>
        </p:spPr>
      </p:pic>
      <p:sp>
        <p:nvSpPr>
          <p:cNvPr id="279" name="TextBox 8"/>
          <p:cNvSpPr/>
          <p:nvPr/>
        </p:nvSpPr>
        <p:spPr>
          <a:xfrm>
            <a:off x="7223760" y="1920240"/>
            <a:ext cx="4388760" cy="347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f0e8"/>
                </a:solidFill>
                <a:latin typeface="Arial"/>
              </a:rPr>
              <a:t>Depth 0 (single leaf): 103 B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f0e8"/>
                </a:solidFill>
                <a:latin typeface="Arial"/>
              </a:rPr>
              <a:t>vs P2TR key-path: 66 B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f0e8"/>
                </a:solidFill>
                <a:latin typeface="Arial"/>
              </a:rPr>
              <a:t>+37 B base overhead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f0e8"/>
                </a:solidFill>
                <a:latin typeface="Arial"/>
              </a:rPr>
              <a:t>+32 B per tree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f0e8"/>
                </a:solidFill>
                <a:latin typeface="Arial"/>
              </a:rPr>
              <a:t>Always 32 B smaller than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f0e8"/>
                </a:solidFill>
                <a:latin typeface="Arial"/>
              </a:rPr>
              <a:t>equivalent P2TR script-path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f5f0e8"/>
                </a:solidFill>
                <a:latin typeface="Arial"/>
              </a:rPr>
              <a:t>(no internal key in control block)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1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82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4"/>
          <p:cNvSpPr/>
          <p:nvPr/>
        </p:nvSpPr>
        <p:spPr>
          <a:xfrm>
            <a:off x="2236680" y="228600"/>
            <a:ext cx="64051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BIP-360: what it protects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7"/>
          <p:cNvSpPr/>
          <p:nvPr/>
        </p:nvSpPr>
        <p:spPr>
          <a:xfrm>
            <a:off x="1382760" y="1874520"/>
            <a:ext cx="3543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Protected: long exposure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8"/>
          <p:cNvSpPr/>
          <p:nvPr/>
        </p:nvSpPr>
        <p:spPr>
          <a:xfrm>
            <a:off x="6585840" y="1874520"/>
            <a:ext cx="4658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Not yet protected: short exposure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9"/>
          <p:cNvSpPr/>
          <p:nvPr/>
        </p:nvSpPr>
        <p:spPr>
          <a:xfrm>
            <a:off x="640080" y="2377440"/>
            <a:ext cx="53031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Public keys hidden in the Merkle tree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10"/>
          <p:cNvSpPr/>
          <p:nvPr/>
        </p:nvSpPr>
        <p:spPr>
          <a:xfrm>
            <a:off x="6400800" y="2377440"/>
            <a:ext cx="4845960" cy="15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Mempool window still uses ECDSA/Schnorr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Needs future PQC signature opcodes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P2MR creates the path for these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90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91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4"/>
          <p:cNvSpPr/>
          <p:nvPr/>
        </p:nvSpPr>
        <p:spPr>
          <a:xfrm>
            <a:off x="2297160" y="228600"/>
            <a:ext cx="62863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Implementation timeline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94" name="" descr=""/>
          <p:cNvPicPr/>
          <p:nvPr/>
        </p:nvPicPr>
        <p:blipFill>
          <a:blip r:embed="rId2"/>
          <a:stretch/>
        </p:blipFill>
        <p:spPr>
          <a:xfrm>
            <a:off x="457200" y="984240"/>
            <a:ext cx="10058400" cy="554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96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297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4"/>
          <p:cNvSpPr/>
          <p:nvPr/>
        </p:nvSpPr>
        <p:spPr>
          <a:xfrm>
            <a:off x="2296440" y="228600"/>
            <a:ext cx="62877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Problem 2: legacy coins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TextBox 7"/>
          <p:cNvSpPr/>
          <p:nvPr/>
        </p:nvSpPr>
        <p:spPr>
          <a:xfrm>
            <a:off x="2537280" y="1874520"/>
            <a:ext cx="12340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Options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8"/>
          <p:cNvSpPr/>
          <p:nvPr/>
        </p:nvSpPr>
        <p:spPr>
          <a:xfrm>
            <a:off x="7833240" y="1874520"/>
            <a:ext cx="21639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Consequences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9"/>
          <p:cNvSpPr/>
          <p:nvPr/>
        </p:nvSpPr>
        <p:spPr>
          <a:xfrm>
            <a:off x="640080" y="2377440"/>
            <a:ext cx="530316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Status quo: let CRQC spend them, preserve neutrality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Freeze: lock vulnerable UTXOs preemptively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Hourglass: rate-limit movement of exposed coins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10"/>
          <p:cNvSpPr/>
          <p:nvPr/>
        </p:nvSpPr>
        <p:spPr>
          <a:xfrm>
            <a:off x="6400800" y="2377440"/>
            <a:ext cx="484596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Steal: price shock, but censorship resistance intact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Freeze: market crash prevented, legitimacy damaged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Hourglass: middle path, still contentious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05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06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4"/>
          <p:cNvSpPr/>
          <p:nvPr/>
        </p:nvSpPr>
        <p:spPr>
          <a:xfrm>
            <a:off x="3053880" y="228600"/>
            <a:ext cx="47728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What can you do?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6"/>
          <p:cNvSpPr/>
          <p:nvPr/>
        </p:nvSpPr>
        <p:spPr>
          <a:xfrm>
            <a:off x="2663640" y="1874520"/>
            <a:ext cx="9813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Today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7"/>
          <p:cNvSpPr/>
          <p:nvPr/>
        </p:nvSpPr>
        <p:spPr>
          <a:xfrm>
            <a:off x="7414920" y="1874520"/>
            <a:ext cx="30006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When standards land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8"/>
          <p:cNvSpPr/>
          <p:nvPr/>
        </p:nvSpPr>
        <p:spPr>
          <a:xfrm>
            <a:off x="640080" y="2377440"/>
            <a:ext cx="5303160" cy="20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Don't reuse addresses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Avoid P2TR for large holdings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Don't share your XPUB unnecessarily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  </a:t>
            </a: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(SMSF auditing, public Electrum nodes)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Satoshi's shield: game-theory deterrent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9"/>
          <p:cNvSpPr/>
          <p:nvPr/>
        </p:nvSpPr>
        <p:spPr>
          <a:xfrm>
            <a:off x="6172200" y="2377440"/>
            <a:ext cx="5074560" cy="20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Migrate when upgrades are made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Adopt tested PQC implementations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Run a node to support the upgrade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Fund dev grants and crypto research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Participate in the consensus direction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" dur="indefinite" restart="never" nodeType="tmRoot">
          <p:childTnLst>
            <p:seq>
              <p:cTn id="84" dur="indefinite" nodeType="mainSeq">
                <p:childTnLst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14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15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4"/>
          <p:cNvSpPr/>
          <p:nvPr/>
        </p:nvSpPr>
        <p:spPr>
          <a:xfrm>
            <a:off x="3764880" y="228600"/>
            <a:ext cx="33508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Mythbusters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TextBox 6"/>
          <p:cNvSpPr/>
          <p:nvPr/>
        </p:nvSpPr>
        <p:spPr>
          <a:xfrm>
            <a:off x="2739240" y="1874520"/>
            <a:ext cx="8301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Myth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7"/>
          <p:cNvSpPr/>
          <p:nvPr/>
        </p:nvSpPr>
        <p:spPr>
          <a:xfrm>
            <a:off x="8367480" y="1874520"/>
            <a:ext cx="10954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7931a"/>
                </a:solidFill>
                <a:latin typeface="Arial"/>
              </a:rPr>
              <a:t>Reality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8"/>
          <p:cNvSpPr/>
          <p:nvPr/>
        </p:nvSpPr>
        <p:spPr>
          <a:xfrm>
            <a:off x="640080" y="2377440"/>
            <a:ext cx="5303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CRQC breaks all addresses instantly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Grover kills SHA-256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This is only a Bitcoin problem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9"/>
          <p:cNvSpPr/>
          <p:nvPr/>
        </p:nvSpPr>
        <p:spPr>
          <a:xfrm>
            <a:off x="6400800" y="2377440"/>
            <a:ext cx="484596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Exposure type and time window matter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Quadratic speedup shifts cost curves, not instant break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2000" spc="-1" strike="noStrike">
                <a:solidFill>
                  <a:srgbClr val="f5f0e8"/>
                </a:solidFill>
                <a:latin typeface="Arial"/>
              </a:rPr>
              <a:t>ECDSA/RSA break is an internet-wide crisis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23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24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4"/>
          <p:cNvSpPr/>
          <p:nvPr/>
        </p:nvSpPr>
        <p:spPr>
          <a:xfrm>
            <a:off x="1763280" y="228600"/>
            <a:ext cx="73544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CRQC most likely use cases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7"/>
          <p:cNvSpPr/>
          <p:nvPr/>
        </p:nvSpPr>
        <p:spPr>
          <a:xfrm>
            <a:off x="640080" y="1920240"/>
            <a:ext cx="8503920" cy="26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600" spc="-1" strike="noStrike">
                <a:solidFill>
                  <a:srgbClr val="f5f0e8"/>
                </a:solidFill>
                <a:latin typeface="Arial"/>
              </a:rPr>
              <a:t>SIGINT: crack the 'store now, decrypt later' vault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600" spc="-1" strike="noStrike">
                <a:solidFill>
                  <a:srgbClr val="f5f0e8"/>
                </a:solidFill>
                <a:latin typeface="Arial"/>
              </a:rPr>
              <a:t>Materials science and engineering simulation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600" spc="-1" strike="noStrike">
                <a:solidFill>
                  <a:srgbClr val="f5f0e8"/>
                </a:solidFill>
                <a:latin typeface="Arial"/>
              </a:rPr>
              <a:t>Pharmaceutical drug discovery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600" spc="-1" strike="noStrike">
                <a:solidFill>
                  <a:srgbClr val="f5f0e8"/>
                </a:solidFill>
                <a:latin typeface="Arial"/>
              </a:rPr>
              <a:t>Disease prevention and genomics research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600" spc="-1" strike="noStrike">
                <a:solidFill>
                  <a:srgbClr val="f5f0e8"/>
                </a:solidFill>
                <a:latin typeface="Arial"/>
              </a:rPr>
              <a:t>Physics: push the boundary of QFT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29" name="Picture 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30" name="TextBox 3"/>
          <p:cNvSpPr/>
          <p:nvPr/>
        </p:nvSpPr>
        <p:spPr>
          <a:xfrm>
            <a:off x="1857600" y="6446520"/>
            <a:ext cx="122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4"/>
          <p:cNvSpPr/>
          <p:nvPr/>
        </p:nvSpPr>
        <p:spPr>
          <a:xfrm>
            <a:off x="3882960" y="228600"/>
            <a:ext cx="31147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Questions?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Rectangle 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7"/>
          <p:cNvSpPr/>
          <p:nvPr/>
        </p:nvSpPr>
        <p:spPr>
          <a:xfrm>
            <a:off x="640080" y="2377440"/>
            <a:ext cx="10058040" cy="17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3000" spc="-1" strike="noStrike">
                <a:solidFill>
                  <a:srgbClr val="f5f0e8"/>
                </a:solidFill>
                <a:latin typeface="Arial"/>
              </a:rPr>
              <a:t>Priority 1:  stop exposing public keys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3000" spc="-1" strike="noStrike">
                <a:solidFill>
                  <a:srgbClr val="f5f0e8"/>
                </a:solidFill>
                <a:latin typeface="Arial"/>
              </a:rPr>
              <a:t>Priority 2:  safe upgrade path (BIP-360)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3000" spc="-1" strike="noStrike">
                <a:solidFill>
                  <a:srgbClr val="f5f0e8"/>
                </a:solidFill>
                <a:latin typeface="Arial"/>
              </a:rPr>
              <a:t>Priority 3:  social consensus on legacy coins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 1_ref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35" name="Picture 2_ref1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36" name="TextBox 3_ref1"/>
          <p:cNvSpPr/>
          <p:nvPr/>
        </p:nvSpPr>
        <p:spPr>
          <a:xfrm>
            <a:off x="1247400" y="6446520"/>
            <a:ext cx="244260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4_ref1"/>
          <p:cNvSpPr/>
          <p:nvPr/>
        </p:nvSpPr>
        <p:spPr>
          <a:xfrm>
            <a:off x="843840" y="228600"/>
            <a:ext cx="91940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References (1/10)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Rectangle 5_ref1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6_ref1"/>
          <p:cNvSpPr/>
          <p:nvPr/>
        </p:nvSpPr>
        <p:spPr>
          <a:xfrm>
            <a:off x="640080" y="1783080"/>
            <a:ext cx="109724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b="1" lang="en-US" sz="1800" spc="-1" strike="noStrike">
                <a:solidFill>
                  <a:srgbClr val="f7931a"/>
                </a:solidFill>
                <a:latin typeface="Arial"/>
              </a:rPr>
              <a:t>What is QC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1. IBM Quantum Learning: Bits, Gates, and Circuits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IBM's technical introduction to qubits, quantum gates, and circuits — aimed at people with a computing background, no physics degree required.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2. Classiq: The Deutsch-Jozsa Algorithm Explained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Step-by-step walkthrough of the Deutsch oracle problem and circuit — the simplest demonstration that a quantum computer can outperform a classical one.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4"/>
              </a:rPr>
              <a:t>3. Bitcoin Magazine: Quantum Bitcoin Summit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Summary of a summit bringing together quantum computing and Bitcoin experts to examine the real threats and separate hype from substance.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1_ref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41" name="Picture 2_ref2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42" name="TextBox 3_ref2"/>
          <p:cNvSpPr/>
          <p:nvPr/>
        </p:nvSpPr>
        <p:spPr>
          <a:xfrm>
            <a:off x="1247400" y="6446520"/>
            <a:ext cx="244260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4_ref2"/>
          <p:cNvSpPr/>
          <p:nvPr/>
        </p:nvSpPr>
        <p:spPr>
          <a:xfrm>
            <a:off x="843840" y="228600"/>
            <a:ext cx="91940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References (2/10)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Rectangle 5_ref2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TextBox 6_ref2"/>
          <p:cNvSpPr/>
          <p:nvPr/>
        </p:nvSpPr>
        <p:spPr>
          <a:xfrm>
            <a:off x="640080" y="1783080"/>
            <a:ext cx="10972440" cy="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b="1" lang="en-US" sz="1800" spc="-1" strike="noStrike">
                <a:solidFill>
                  <a:srgbClr val="f7931a"/>
                </a:solidFill>
                <a:latin typeface="Arial"/>
              </a:rPr>
              <a:t>What is the threat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4. Grover's Search Algorithm Overview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Microsoft's explanation of Grover's quantum search algorithm, which provides a quadratic speedup for unstructured search problems.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5. Quantum Resource Estimates for ECDLP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Roetteler et al. (2017) foundational paper estimating ~2,330 logical qubits and ~1.29 × 10¹¹ Toffoli gates to break 256-bit ECC using Shor's algorithm.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4"/>
              </a:rPr>
              <a:t>6. Ha, Lee &amp; Heo (2024) — Resource analysis for ECDLP with noisy qubits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First comprehensive physical qubit estimate for ECDLP under surface codes: ~5.87 million physical qubits for P-256 at 10⁻³ error rate with 200 ns cycle time.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5"/>
              </a:rPr>
              <a:t>7. Ed25519 Optimisation (2025)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Achieves 97% reduction in T-count, 60% reduction in T-depth, and 16% fewer qubits for quantum attacks on Ed25519 by exploiting its specific finite field structure.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_ref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47" name="Picture 2_ref3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48" name="TextBox 3_ref3"/>
          <p:cNvSpPr/>
          <p:nvPr/>
        </p:nvSpPr>
        <p:spPr>
          <a:xfrm>
            <a:off x="1247400" y="6446520"/>
            <a:ext cx="244260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4_ref3"/>
          <p:cNvSpPr/>
          <p:nvPr/>
        </p:nvSpPr>
        <p:spPr>
          <a:xfrm>
            <a:off x="843840" y="228600"/>
            <a:ext cx="91940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References (3/10)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ectangle 5_ref3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TextBox 6_ref3"/>
          <p:cNvSpPr/>
          <p:nvPr/>
        </p:nvSpPr>
        <p:spPr>
          <a:xfrm>
            <a:off x="640080" y="1783080"/>
            <a:ext cx="10972440" cy="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b="1" lang="en-US" sz="1800" spc="-1" strike="noStrike">
                <a:solidFill>
                  <a:srgbClr val="f7931a"/>
                </a:solidFill>
                <a:latin typeface="Arial"/>
              </a:rPr>
              <a:t>Bitcoin revision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8. Elliptic Curve Cryptography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How Bitcoin uses the secp256k1 elliptic curve for key generation and digital signatures — the operation Shor's algorithm can reverse.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9. Digital Signatures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How ECDSA and Schnorr signatures work in Bitcoin to authorise spending without revealing the private key.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4"/>
              </a:rPr>
              <a:t>10. Hash Functions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Overview of SHA-256 and RIPEMD-160 as used in Bitcoin for mining, addresses, and data integrity — Grover's algorithm provides only a quadratic speedup against these.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5"/>
              </a:rPr>
              <a:t>11. Memory Pool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The mempool where unconfirmed transactions wait — the window during which a short exposure quantum attack could occur.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6"/>
              </a:rPr>
              <a:t>12. Taproot (P2TR)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Pay-to-Taproot: exposes a tweaked public key on-chain, making unspent P2TR outputs vulnerable to long exposure quantum attacks.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 1_ref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53" name="Picture 2_ref4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54" name="TextBox 3_ref4"/>
          <p:cNvSpPr/>
          <p:nvPr/>
        </p:nvSpPr>
        <p:spPr>
          <a:xfrm>
            <a:off x="1247400" y="6446520"/>
            <a:ext cx="244260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4_ref4"/>
          <p:cNvSpPr/>
          <p:nvPr/>
        </p:nvSpPr>
        <p:spPr>
          <a:xfrm>
            <a:off x="843840" y="228600"/>
            <a:ext cx="91940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References (4/10)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Rectangle 5_ref4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TextBox 6_ref4"/>
          <p:cNvSpPr/>
          <p:nvPr/>
        </p:nvSpPr>
        <p:spPr>
          <a:xfrm>
            <a:off x="640080" y="1783080"/>
            <a:ext cx="10972440" cy="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b="1" lang="en-US" sz="1800" spc="-1" strike="noStrike">
                <a:solidFill>
                  <a:srgbClr val="f7931a"/>
                </a:solidFill>
                <a:latin typeface="Arial"/>
              </a:rPr>
              <a:t>QC timeline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13. GRI Quantum Threat Timeline Report 2025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Annual survey of 26 global quantum experts. Optimistic interpretation: ~49% chance of a CRQC within 10 years; pessimistic: ~28%. Notable upward shift from prior years.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14. Bitcoin Fundamentals: Quantum Computing and Bitcoin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Podcast episode discussing the quantum threat to Bitcoin with Charles Edwards, covering timelines, risk assessment, and what bitcoiners should know.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4"/>
              </a:rPr>
              <a:t>15. Cointelegraph: BIP-360 Upgrade Timeline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BIP-360 co-author estimates Bitcoin may take up to 7 years to fully upgrade to post-quantum signatures under a standard timeline.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ectangle 1_ref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59" name="Picture 2_ref5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60" name="TextBox 3_ref5"/>
          <p:cNvSpPr/>
          <p:nvPr/>
        </p:nvSpPr>
        <p:spPr>
          <a:xfrm>
            <a:off x="1247400" y="6446520"/>
            <a:ext cx="244260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4_ref5"/>
          <p:cNvSpPr/>
          <p:nvPr/>
        </p:nvSpPr>
        <p:spPr>
          <a:xfrm>
            <a:off x="843840" y="228600"/>
            <a:ext cx="91940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References (5/10)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Rectangle 5_ref5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TextBox 6_ref5"/>
          <p:cNvSpPr/>
          <p:nvPr/>
        </p:nvSpPr>
        <p:spPr>
          <a:xfrm>
            <a:off x="640080" y="1783080"/>
            <a:ext cx="10972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b="1" lang="en-US" sz="1800" spc="-1" strike="noStrike">
                <a:solidFill>
                  <a:srgbClr val="f7931a"/>
                </a:solidFill>
                <a:latin typeface="Arial"/>
              </a:rPr>
              <a:t>Technical problem and fixes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16. BIP360.org Overview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Overview of Pay-to-Merkle-Root (P2MR), a new output type that removes the quantum-vulnerable key path spend from Taproot while preserving script tree functionality.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17. BIP-360 Draft: Pay-to-Merkle-Root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The formal BIP specification for P2MR, detailing address format (bc1z...), witness structure, and security rationale against long exposure quantum attacks.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4"/>
              </a:rPr>
              <a:t>18. BitMEX Research: Taproot Quantum Spend Paths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Proposes dual-path Taproot wallets with both quantum-safe and classical spend paths, arguing these wallets should be exempt from any future coin freeze.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5"/>
              </a:rPr>
              <a:t>19. Cointelegraph: Six Quantum Security Challenges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Outlines six major hurdles Bitcoin faces in becoming quantum-resistant, including signature size bloat, consensus changes, and migration logistics.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6"/>
              </a:rPr>
              <a:t>20. Bitcoin Magazine: Bitcoin Advances Toward Quantum Resistance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Reports on recent development progress toward quantum-resistant Bitcoin, including BIP-360 and related proposals.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1_ref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65" name="Picture 2_ref6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66" name="TextBox 3_ref6"/>
          <p:cNvSpPr/>
          <p:nvPr/>
        </p:nvSpPr>
        <p:spPr>
          <a:xfrm>
            <a:off x="1247400" y="6446520"/>
            <a:ext cx="244260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4_ref6"/>
          <p:cNvSpPr/>
          <p:nvPr/>
        </p:nvSpPr>
        <p:spPr>
          <a:xfrm>
            <a:off x="843840" y="228600"/>
            <a:ext cx="91940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References (6/10)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ectangle 5_ref6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TextBox 6_ref6"/>
          <p:cNvSpPr/>
          <p:nvPr/>
        </p:nvSpPr>
        <p:spPr>
          <a:xfrm>
            <a:off x="640080" y="1783080"/>
            <a:ext cx="10972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21. NIST FIPS 204: ML-DSA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NIST's finalised standard for ML-DSA (derived from CRYSTALS-Dilithium), a lattice-based post-quantum digital signature algorithm.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22. NIST FIPS 205: SLH-DSA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NIST's finalised standard for SLH-DSA (derived from SPHINCS+), a stateless hash-based post-quantum digital signature algorithm.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4"/>
              </a:rPr>
              <a:t>23. Post-Quantum Digital Signatures Benchmark: ML-DSA vs ECDSA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Side-by-side performance benchmarks comparing ML-DSA signature sizes, signing times, and verification times against classical ECDSA.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5"/>
              </a:rPr>
              <a:t>24. ASecuritySite: Digital Signature Benchmark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Interactive benchmarking tool for post-quantum signature schemes including Dilithium/ML-DSA across different security levels.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6"/>
              </a:rPr>
              <a:t>25. Making SLH-DSA 10x-100x Faster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Research by SLH-DSA co-designer Andreas Huelsing on optimisation techniques to dramatically improve SLH-DSA signing and verification performance.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ectangle 1_ref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71" name="Picture 2_ref8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72" name="TextBox 3_ref8"/>
          <p:cNvSpPr/>
          <p:nvPr/>
        </p:nvSpPr>
        <p:spPr>
          <a:xfrm>
            <a:off x="1247400" y="6446520"/>
            <a:ext cx="244260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Box 4_ref8"/>
          <p:cNvSpPr/>
          <p:nvPr/>
        </p:nvSpPr>
        <p:spPr>
          <a:xfrm>
            <a:off x="843120" y="228600"/>
            <a:ext cx="91940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References (7/10)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Rectangle 5_ref8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TextBox 6_ref8"/>
          <p:cNvSpPr/>
          <p:nvPr/>
        </p:nvSpPr>
        <p:spPr>
          <a:xfrm>
            <a:off x="640080" y="1783080"/>
            <a:ext cx="109724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26. SLotH GitHub: SLH-DSA Performance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Reference implementation and benchmarks for optimised SLH-DSA, targeting hardware acceleration to close the performance gap with lattice-based schemes.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27. Chaincode: Bitcoin Post-Quantum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Chaincode Labs research paper analysing post-quantum migration strategies for Bitcoin, including signature scheme selection and upgrade paths.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angle 1_ref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77" name="Picture 2_ref9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78" name="TextBox 3_ref9"/>
          <p:cNvSpPr/>
          <p:nvPr/>
        </p:nvSpPr>
        <p:spPr>
          <a:xfrm>
            <a:off x="1247400" y="6446520"/>
            <a:ext cx="244260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4_ref9"/>
          <p:cNvSpPr/>
          <p:nvPr/>
        </p:nvSpPr>
        <p:spPr>
          <a:xfrm>
            <a:off x="843120" y="228600"/>
            <a:ext cx="91940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References (8/10)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ectangle 5_ref9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TextBox 6_ref9"/>
          <p:cNvSpPr/>
          <p:nvPr/>
        </p:nvSpPr>
        <p:spPr>
          <a:xfrm>
            <a:off x="640080" y="1783080"/>
            <a:ext cx="10972440" cy="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b="1" lang="en-US" sz="1800" spc="-1" strike="noStrike">
                <a:solidFill>
                  <a:srgbClr val="f7931a"/>
                </a:solidFill>
                <a:latin typeface="Arial"/>
              </a:rPr>
              <a:t>Social problem and fixes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28. Hourglass v2 Draft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Proposes a middle-ground approach to quantum-vulnerable coins: rate-limiting their movement rather than freezing or ignoring them entirely.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29. Lopp: Against Quantum Recovery of Bitcoin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Jameson Lopp argues Bitcoin should permanently burn funds in quantum-vulnerable addresses rather than allow quantum-capable entities to steal them.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4"/>
              </a:rPr>
              <a:t>30. CoinDesk: To Freeze or Not to Freeze — Satoshi and the $440B in Bitcoin Threatened by Quantum Computing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Examines the debate over ~7 million BTC in quantum-vulnerable addresses including Satoshi's ~1 million coins, weighing immutability against market stability.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5"/>
              </a:rPr>
              <a:t>31. Cointelegraph Magazine: Bitcoin may face hard fork over any attempt to freeze Satoshi's coins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Argues that freezing quantum-vulnerable coins would violate Bitcoin's core property rights, potentially splitting the network in a contentious hard fork.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1_ref1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83" name="Picture 2_ref10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84" name="TextBox 3_ref10"/>
          <p:cNvSpPr/>
          <p:nvPr/>
        </p:nvSpPr>
        <p:spPr>
          <a:xfrm>
            <a:off x="1247400" y="6446520"/>
            <a:ext cx="244260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4_ref10"/>
          <p:cNvSpPr/>
          <p:nvPr/>
        </p:nvSpPr>
        <p:spPr>
          <a:xfrm>
            <a:off x="843120" y="228600"/>
            <a:ext cx="91940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References (9/10)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ectangle 5_ref10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TextBox 6_ref10"/>
          <p:cNvSpPr/>
          <p:nvPr/>
        </p:nvSpPr>
        <p:spPr>
          <a:xfrm>
            <a:off x="640080" y="1783080"/>
            <a:ext cx="1097244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b="1" lang="en-US" sz="1800" spc="-1" strike="noStrike">
                <a:solidFill>
                  <a:srgbClr val="f7931a"/>
                </a:solidFill>
                <a:latin typeface="Arial"/>
              </a:rPr>
              <a:t>Other uses of QC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32. Frontiers: Quantum Computing — Foundations, Algorithms, and Emerging Applications (2025)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Comprehensive review covering quantum algorithms and their emerging applications across materials science, chemistry, optimisation, and physics simulation.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33. Wikipedia: Harvest Now, Decrypt Later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Overview of the HNDL strategy where adversaries intercept and store encrypted communications today for decryption once quantum computers become available.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1_ref1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89" name="Picture 2_ref11" descr="bitcoinbushbash-logo.png"/>
          <p:cNvPicPr/>
          <p:nvPr/>
        </p:nvPicPr>
        <p:blipFill>
          <a:blip r:embed="rId1"/>
          <a:stretch/>
        </p:blipFill>
        <p:spPr>
          <a:xfrm>
            <a:off x="10698480" y="109800"/>
            <a:ext cx="1352880" cy="1352880"/>
          </a:xfrm>
          <a:prstGeom prst="rect">
            <a:avLst/>
          </a:prstGeom>
          <a:ln w="0">
            <a:noFill/>
          </a:ln>
        </p:spPr>
      </p:pic>
      <p:sp>
        <p:nvSpPr>
          <p:cNvPr id="390" name="TextBox 3_ref11"/>
          <p:cNvSpPr/>
          <p:nvPr/>
        </p:nvSpPr>
        <p:spPr>
          <a:xfrm>
            <a:off x="1247400" y="6446520"/>
            <a:ext cx="244260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88"/>
                </a:solidFill>
                <a:latin typeface="Arial"/>
              </a:rPr>
              <a:t>bitcoinbushbash.info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Box 4_ref11"/>
          <p:cNvSpPr/>
          <p:nvPr/>
        </p:nvSpPr>
        <p:spPr>
          <a:xfrm>
            <a:off x="546120" y="228600"/>
            <a:ext cx="9788760" cy="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References (10/10)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Rectangle 5_ref11"/>
          <p:cNvSpPr/>
          <p:nvPr/>
        </p:nvSpPr>
        <p:spPr>
          <a:xfrm>
            <a:off x="640080" y="1234440"/>
            <a:ext cx="4114440" cy="50040"/>
          </a:xfrm>
          <a:prstGeom prst="rect">
            <a:avLst/>
          </a:prstGeom>
          <a:solidFill>
            <a:srgbClr val="f7931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TextBox 6_ref11"/>
          <p:cNvSpPr/>
          <p:nvPr/>
        </p:nvSpPr>
        <p:spPr>
          <a:xfrm>
            <a:off x="640080" y="1783080"/>
            <a:ext cx="10972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34. Federal Reserve: HNDL and Post-Quantum Cryptography Risks for Distributed Ledger Networks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Federal Reserve research examining how harvest-now-decrypt-later attacks pose data privacy risks specifically for blockchain and distributed ledger networks.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35. McKinsey: The Quantum Revolution in Pharma (2025)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McKinsey analysis of how quantum computing is accelerating drug discovery by simulating molecular interactions at the quantum level, compressing timelines from years to weeks.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200" spc="-1" strike="noStrike" u="sng">
                <a:solidFill>
                  <a:srgbClr val="0000ff"/>
                </a:solidFill>
                <a:uFillTx/>
                <a:latin typeface="Arial"/>
                <a:hlinkClick r:id="rId4"/>
              </a:rPr>
              <a:t>36. Nature: Quantum-Machine-Assisted Drug Discovery (2025)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888888"/>
                </a:solidFill>
                <a:latin typeface="Arial"/>
              </a:rPr>
              <a:t>Nature paper on combining quantum computing with machine learning for biomarker discovery, genomic data processing, and cancer detection via liquid biopsy.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2026-03-15T10:29:04Z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
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 including questions. Bitcoin beginner-advanced, QC none-intermediate.</a:t>
            </a:r>
          </a:p>
          <a:p>
            <a:r>
              <a:t>Frame as a migration race, not overnight collapse.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slide. BIP-360 gets 5 dedicated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CRQC = Cryptographically Relevant Quantum Computer.</a:t>
            </a:r>
          </a:p>
          <a:p>
            <a:r>
              <a:t>Current largest factored number by QC is 15. Far away, but trajectory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Shor: exponential advantage, breaks DLP. The real worry.</a:t>
            </a:r>
          </a:p>
          <a:p>
            <a:r>
              <a:t>Grover: quadratic only. Not a collapse event, a cost-curve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insight: spending behaviour determines exposure.</a:t>
            </a:r>
          </a:p>
          <a:p>
            <a:r>
              <a:t>Address reuse = key exposed on-chain forever.</a:t>
            </a:r>
          </a:p>
          <a:p>
            <a:r>
              <a:t>P2TR key-path = key exposed at receive time (like 2010-era P2PK).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Long exposure: key visible on-chain indefinitely. Attacker has unlimited time.</a:t>
            </a:r>
          </a:p>
          <a:p>
            <a:r>
              <a:t>  P2PK/P2TR key-path: exposed at receive.</a:t>
            </a:r>
          </a:p>
          <a:p>
            <a:r>
              <a:t>  Reused P2PKH: exposed after first spend.</a:t>
            </a:r>
          </a:p>
          <a:p>
            <a:r>
              <a:t>Short exposure: mempool race after key reveal. Needs faster QC. Secondary threat.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Values from GRI 2024 key points. Weighted averages of 32 expert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sums to 32. Shows how spread the expert opinion really is.</a:t>
            </a:r>
          </a:p>
          <a:p>
            <a:r>
              <a:t>18 of 32 say extremely unlikely within 5 years. But 3 say likely or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from Appendix A.4 raw counts * probability bin assignments.</a:t>
            </a:r>
          </a:p>
          <a:p>
            <a:r>
              <a:t>Key: ~34% optimistic at 10 yr, ~62% at 15 yr. The window is tightening.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CNSA 2.0: Commercial National Security Algorithm Suite.</a:t>
            </a:r>
          </a:p>
          <a:p>
            <a:r>
              <a:t>NIST IR 8547 disallows ECC in US federal gov after 2035.</a:t>
            </a:r>
          </a:p>
          <a:p>
            <a:r>
              <a:t>These drive enterprise Bitcoin infrastructure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into solution space. These are coupled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ML-DSA and SLH-DSA are the NIST PQC standards (Aug 2024).</a:t>
            </a:r>
          </a:p>
          <a:p>
            <a:r>
              <a:t>Some candidates already broken: SIKE, Rainbow. Caution warranted.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PQC sigs are much larger than ECDSA/Schnorr (64B -&gt; potentially kilobytes).</a:t>
            </a:r>
          </a:p>
          <a:p>
            <a:r>
              <a:t>Affects on-chain, Lightning, custody, hardware wallets.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BIP-360 by Hunter Beast. Status: Draft.</a:t>
            </a:r>
          </a:p>
          <a:p>
            <a:r>
              <a:t>Core idea: commit to Merkle root of script tree, not a tweaked public key.</a:t>
            </a:r>
          </a:p>
          <a:p>
            <a:r>
              <a:t>Eliminates long-exposure quantum attack surface entirely.</a:t>
            </a:r>
          </a:p>
          <a:p>
            <a:r>
              <a:t>BitMEX endorses this approach: removes Taproot key-path to match P2PKH quantum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Output: OP_2 OP_PUSHBYTES_32 &lt;merkle_root&gt;</a:t>
            </a:r>
          </a:p>
          <a:p>
            <a:r>
              <a:t>Unlike P2TR: no internal key, no key tweak. Commits only to TapBranch hash.</a:t>
            </a:r>
          </a:p>
          <a:p>
            <a:r>
              <a:t>Witness: stack elements + leaf script + control block (NO public key in control block).</a:t>
            </a:r>
          </a:p>
          <a:p>
            <a:r>
              <a:t>Control block: 1 + 32*m bytes (m = tree depth, max 128).</a:t>
            </a:r>
          </a:p>
          <a:p>
            <a:r>
              <a:t>Parity bit always 1 (no key to compute parity from).</a:t>
            </a:r>
          </a:p>
          <a:p>
            <a:r>
              <a:t>Unused script paths remain private. Tapscript compatible.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P2MR witness formula: 37 + 32*m bytes more than P2TR key-path.</a:t>
            </a:r>
          </a:p>
          <a:p>
            <a:r>
              <a:t>But always 32 bytes LESS than equivalent P2TR script-path spend.</a:t>
            </a:r>
          </a:p>
          <a:p>
            <a:r>
              <a:t>Because P2MR omits the internal public key from control block.</a:t>
            </a:r>
          </a:p>
          <a:p>
            <a:r>
              <a:t>Depth 0: 103B. Depth 1: 135B. Depth 3: 199B.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from BIP-360: 'Minimize changes to the network.'</a:t>
            </a:r>
          </a:p>
          <a:p>
            <a:r>
              <a:t>'Create the safest possible path for post-quantum signature integrations.'</a:t>
            </a:r>
          </a:p>
          <a:p>
            <a:r>
              <a:t>'Facilitate gradual integration of quantum resistant features carried out iteratively.'</a:t>
            </a:r>
          </a:p>
          <a:p>
            <a:r>
              <a:t>Future PQC via OP_SUCCESSx opcode updates for PQC OP_CHECKSIG.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BIP-360: 'P2MR outputs are only resistant to long exposure attacks.'</a:t>
            </a:r>
          </a:p>
          <a:p>
            <a:r>
              <a:t>'Protection against short exposure attacks may require future post-quantum signatures.'</a:t>
            </a:r>
          </a:p>
          <a:p>
            <a:r>
              <a:t>BitMEX proposes dual tapleaf: quantum-safe AND quantum-vulnerable options per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path: ~7 years for broad adoption (BIP co-author estimate).</a:t>
            </a:r>
          </a:p>
          <a:p>
            <a:r>
              <a:t>Urgent path requires pre-work NOW: standards, wallet readiness, exchange coordination.</a:t>
            </a:r>
          </a:p>
          <a:p>
            <a:r>
              <a:t>Side-by-side with GRI risk signal to visualise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governance territory, not just engineering.</a:t>
            </a:r>
          </a:p>
          <a:p>
            <a:r>
              <a:t>Hourglass BIP: rate-limit quantum-exposed coin movement.</a:t>
            </a:r>
          </a:p>
          <a:p>
            <a:r>
              <a:t>If freeze happens too early, legitimate users harmed.</a:t>
            </a:r>
          </a:p>
          <a:p>
            <a:r>
              <a:t>If too late, market crash from quantum theft.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Satoshi's shield: if Satoshi's coins are vulnerable, attackers face massive sell pressure.</a:t>
            </a:r>
          </a:p>
          <a:p>
            <a:r>
              <a:t>Game-theoretic deterrent against quantum theft.</a:t>
            </a:r>
          </a:p>
          <a:p>
            <a:r>
              <a:t>xpub exposure: SMSF auditing requirements and public Electrum nodes leak derivation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slide. Staged threats, not a single catastrophic event.</a:t>
            </a:r>
          </a:p>
          <a:p>
            <a:r>
              <a:t>Grover: 2^256 -&gt; 2^128 search space. Still enormous.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Nation-state drivers keep quantum investment high regardless of Bitcoin.</a:t>
            </a:r>
          </a:p>
          <a:p>
            <a:r>
              <a:t>'Store now, decrypt later' is already happening — Bitcoin's pressure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major sources listed with URLs.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priorities. Invite involvement.</a:t>
            </a:r>
          </a:p>
          <a:p>
            <a:r>
              <a:t>Key question: what ships early without fragmenting consensus?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bitcoin/bips/blob/master/bip-0360.mediawiki" TargetMode="External"/><Relationship Id="rId4" Type="http://schemas.openxmlformats.org/officeDocument/2006/relationships/hyperlink" Target="https://bip360.org/bip360.html" TargetMode="External"/><Relationship Id="rId5" Type="http://schemas.openxmlformats.org/officeDocument/2006/relationships/hyperlink" Target="https://globalriskinstitute.org" TargetMode="External"/><Relationship Id="rId6" Type="http://schemas.openxmlformats.org/officeDocument/2006/relationships/hyperlink" Target="https://bitmex.com/blog/Taproot-Quantum-Spend-Paths" TargetMode="External"/><Relationship Id="rId7" Type="http://schemas.openxmlformats.org/officeDocument/2006/relationships/hyperlink" Target="https://bitcoinmagazine.com/technical/the-quantum-bitcoin-summit" TargetMode="External"/><Relationship Id="rId8" Type="http://schemas.openxmlformats.org/officeDocument/2006/relationships/hyperlink" Target="https://csrc.nist.gov/projects/post-quantum-cryptography" TargetMode="External"/><Relationship Id="rId9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The Quantum Threat to Bitcoin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What's at risk, what's being built, and what you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Overview the threat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What we can do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What you can 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Talk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1. What is quantum computing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2. The QC threat to Bitcoin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3. Revision: sigs, hashes, mempool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4. When is it coming (GRI 2024)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5. Two big problems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6. BIP-360 deep dive  (the big mitigation)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7. Legacy coins dilemma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8. What you can do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9. Mythbusters &amp; perspective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What is quantum computing?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Only what matters for Bitcoin's security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Core ideas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Road to a CRQC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Superposition: 0 and 1 at once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Entanglement: correlated states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Interference: amplify right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Physical qubits are noisy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Error correction burns many physical qubits per logical qubit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Logical qubits + runtime = can it run Shor fast enough?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The QC threat to Bitcoin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Two algorithms, two threat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Shor's algorithm  (signatures)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Grover's algorithm  (hashing)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Breaks ECDSA and Schnorr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Derives private key from public key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Exponential speedup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Primary Bitcoin threat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Targets SHA-256 / RIPEMD-160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Quadratic speedup only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256-bit -&gt; ~128-bit effective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Changes mining economics, not collapse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Digital signatures, hashing, and the mempool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Signatures: prove you own the coins, authorize spend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Hashing: mining proof-of-work + compress/conceal public keys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Public key hidden by hash until first spend (P2PKH/P2SH/P2WSH)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Public key exposed on receive (P2PK, P2TR key-path)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Mempool window: tx waits ~10 min before confirmation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When your public key is visible = your quantum risk window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Attack types: long vs short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posure-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When is it coming?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GRI Quantum Threat Timeline Report 2024  —  32 experts surveyed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~14%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Optimistic avg</a:t>
            </a:r>
            <a:br/>
            <a:r>
              <a:t>within 5 years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92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36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~34%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6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Optimistic avg</a:t>
            </a:r>
            <a:br/>
            <a:r>
              <a:t>within 10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148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292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~19%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Pessimistic avg</a:t>
            </a:r>
            <a:br/>
            <a:r>
              <a:t>within 10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Planning signal, not prediction. Uncertainty concentrates in the 10-15 year window.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GRI expert response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Raw counts — Appendix A.4</a:t>
            </a:r>
          </a:p>
        </p:txBody>
      </p:sp>
      <p:pic>
        <p:nvPicPr>
          <p:cNvPr id="8" name="Picture 7" descr="gri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GRI derived probability curve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Optimistic vs pessimistic probability assignments</a:t>
            </a:r>
          </a:p>
        </p:txBody>
      </p:sp>
      <p:pic>
        <p:nvPicPr>
          <p:cNvPr id="8" name="Picture 7" descr="gri-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Government policy timelines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Regulatory pressure already moving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CNSA 2.0</a:t>
            </a:r>
            <a:br/>
            <a:r>
              <a:t>PQC mandate begins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92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36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2033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6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CNSA 2.0</a:t>
            </a:r>
            <a:br/>
            <a:r>
              <a:t>full browser/OS PQC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148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292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2035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NIST IR 8547</a:t>
            </a:r>
            <a:br/>
            <a:r>
              <a:t>disallow ECC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Bitcoin doesn't answer to regulators — but enterprise/institutional users will demand PQC.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The two big Bitcoin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5F0E8"/>
                </a:solidFill>
                <a:latin typeface="Liberation Sans"/>
              </a:defRPr>
            </a:pPr>
            <a:r>
              <a:t>1.  Technical:  add post-quantum cryptography to Bitcoin</a:t>
            </a:r>
          </a:p>
          <a:p>
            <a:pPr>
              <a:spcAft>
                <a:spcPts val="1200"/>
              </a:spcAft>
              <a:defRPr sz="3200" b="1">
                <a:solidFill>
                  <a:srgbClr val="F5F0E8"/>
                </a:solidFill>
                <a:latin typeface="Liberation Sans"/>
              </a:defRPr>
            </a:pPr>
            <a:r>
              <a:t>2.  Social:  what happens to legacy coins that don't upgrade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Both must be solved together. Technical alone is not enough.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Post-quantum signature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5 families, different tradeoffs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NIST standardised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Other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ML-DSA (Dilithium) — lattice-based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SLH-DSA (SPHINCS+) — hash-based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Conservative, well-studied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Compact sigs, larger public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Code-based (McEliece) — huge keys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Multivariate (Rainbow — broken)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Isogeny (SIKE — broken)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Active research, real risks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BIP-360 does NOT commit to any PQC algorithm — it builds the infrastructure for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PQC operational impacts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Bigger signatures ripple through the entire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Transaction size and fee increases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Block space pressure and mempool dynamics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Verification and signing time changes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Lightning channel updates: every state = PQC signature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Multisig: N signatures * PQC size</a:t>
            </a:r>
          </a:p>
          <a:p>
            <a:pPr>
              <a:spcAft>
                <a:spcPts val="1200"/>
              </a:spcAft>
              <a:defRPr sz="2400" b="1">
                <a:solidFill>
                  <a:srgbClr val="F5F0E8"/>
                </a:solidFill>
                <a:latin typeface="Liberation Sans"/>
              </a:defRPr>
            </a:pPr>
            <a:r>
              <a:t>Exchanges and custody: key management overhaul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Pay-to-Merkle-Root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The key quantum mitigation path for Bitcoin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P2MR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New output type</a:t>
            </a:r>
            <a:br/>
            <a:r>
              <a:t>SegWit version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92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36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bc1z...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6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New address</a:t>
            </a:r>
            <a:br/>
            <a:r>
              <a:t>prefix (Bech32m)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1480" y="2103120"/>
            <a:ext cx="3535680" cy="2011680"/>
          </a:xfrm>
          <a:prstGeom prst="roundRect">
            <a:avLst/>
          </a:prstGeom>
          <a:solidFill>
            <a:srgbClr val="0D0D0D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2920" y="2331720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7931A"/>
                </a:solidFill>
                <a:latin typeface="Liberation Sans"/>
              </a:defRPr>
            </a:pPr>
            <a:r>
              <a:t>Soft fork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3154679"/>
            <a:ext cx="335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5F0E8"/>
                </a:solidFill>
                <a:latin typeface="Liberation Sans"/>
              </a:defRPr>
            </a:pPr>
            <a:r>
              <a:t>Backward</a:t>
            </a:r>
            <a:br/>
            <a:r>
              <a:t>compatible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72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Removes key-path spend — no public key exposed on-chain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Reuses battle-tested tapscript (BIPs 340/341/342)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Creates safe upgrade path for future PQC opcodes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Merkle tree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How P2MR commits to scripts without exposing keys</a:t>
            </a:r>
          </a:p>
        </p:txBody>
      </p:sp>
      <p:pic>
        <p:nvPicPr>
          <p:cNvPr id="8" name="Picture 7" descr="merkle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witness size tradeoffs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Larger than P2TR key-path — smaller than P2TR script-path</a:t>
            </a:r>
          </a:p>
        </p:txBody>
      </p:sp>
      <p:pic>
        <p:nvPicPr>
          <p:cNvPr id="8" name="Picture 7" descr="witness-c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3080"/>
            <a:ext cx="658368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9202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Depth 0 (single leaf): 103 B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vs P2TR key-path: 66 B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+37 B base overhead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+32 B per tree level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Always 32 B smaller than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equivalent P2TR script-path</a:t>
            </a:r>
          </a:p>
          <a:p>
            <a:pPr>
              <a:spcAft>
                <a:spcPts val="1200"/>
              </a:spcAft>
              <a:defRPr sz="1900" b="1">
                <a:solidFill>
                  <a:srgbClr val="F5F0E8"/>
                </a:solidFill>
                <a:latin typeface="Liberation Sans"/>
              </a:defRPr>
            </a:pPr>
            <a:r>
              <a:t>(no internal key in control block)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design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Minimum change, maximum future optionality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Design goals (from BIP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Key technical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Minimize changes to the network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Reuse existing Bitcoin code and workflows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Preserve compatibility where possible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Safest path for PQC signature integration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Enable gradual, iterative upgrades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No key-path spend (eliminates ECC surface)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No internal key tweak (Merkle root only)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OP_SUCCESSx path for future PQC opcodes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No specific PQC algorithm mandated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Multiple PQC sigs possible for redundancy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BIP-360: what it protects (and doesn't)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Long-exposure resistance now — short-exposure resistance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Protected: long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Not yet protected: short 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Public keys never appear on-chain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Funds at rest are quantum-safe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Unused script paths stay private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Existing tapscript programs work as-is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Mempool window still uses ECDSA/Schnorr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Key revealed during broadcast-to-confirm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Needs future PQC signature opcodes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P2MR creates the path for these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P2MR is stage 1.  PQC signatures via OP_SUCCESSx are stage 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Implementation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We win if migration finishes before Q-Day</a:t>
            </a:r>
          </a:p>
        </p:txBody>
      </p:sp>
      <p:pic>
        <p:nvPicPr>
          <p:cNvPr id="8" name="Picture 7" descr="mig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Problem 2: legacy coins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Do nothing = stolen.  Restrict = censorship.  Both bad.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Steal: let CRQC spend them, preserve neutrality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Freeze: lock vulnerable UTXOs preemptively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Hourglass: rate-limit movement of exposed coins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Steal: price shock, but censorship resistance intact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Freeze: market crash prevented, legitimacy damaged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Hourglass: middle path, still contentious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E4572E"/>
                </a:solidFill>
                <a:latin typeface="Liberation Sans"/>
              </a:defRPr>
            </a:pPr>
            <a:r>
              <a:t>Likely outcome: chain split risk. External forces will exploit the division.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What can you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When standards land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Don't reuse addresses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Avoid P2TR/P2PK for large holdings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Don't share your xpub unnecessarily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  (SMSF auditing, public Electrum nodes)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Satoshi's shield: game-theory deterrent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Migrate to P2MR when wallets support it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Adopt tested PQC implementations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Run a node to support the upgrade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Fund dev grants and crypto research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Participate in the consensus direction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Mythbusters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Myth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3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CRQC breaks all addresses instantly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Grover kills SHA-256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This is only a Bitcoin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39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Exposure type and time window matter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Quadratic speedup shifts cost curves, not instant break</a:t>
            </a:r>
          </a:p>
          <a:p>
            <a:pPr>
              <a:spcAft>
                <a:spcPts val="900"/>
              </a:spcAft>
              <a:defRPr sz="2000" b="1">
                <a:solidFill>
                  <a:srgbClr val="F5F0E8"/>
                </a:solidFill>
                <a:latin typeface="Liberation Sans"/>
              </a:defRPr>
            </a:pPr>
            <a:r>
              <a:t>ECDSA/RSA break is an internet-wide crisis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CRQC most likely use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Bitcoin is one target among many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SIGINT: crack the 'store now, decrypt later' vault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Materials science and engineering simulation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Pharmaceutical drug discovery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Disease prevention and genomics research</a:t>
            </a:r>
          </a:p>
          <a:p>
            <a:pPr>
              <a:spcAft>
                <a:spcPts val="1200"/>
              </a:spcAft>
              <a:defRPr sz="2600" b="1">
                <a:solidFill>
                  <a:srgbClr val="F5F0E8"/>
                </a:solidFill>
                <a:latin typeface="Liberation Sans"/>
              </a:defRPr>
            </a:pPr>
            <a:r>
              <a:t>Physics: push the boundary of QFT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Key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Liberation Sans"/>
                <a:hlinkClick r:id="rId3"/>
              </a:rPr>
              <a:t>BIP-360 (P2MR)</a:t>
            </a:r>
          </a:p>
          <a:p>
            <a:pPr>
              <a:spcAft>
                <a:spcPts val="700"/>
              </a:spcAft>
              <a:defRPr sz="900">
                <a:solidFill>
                  <a:srgbClr val="888888"/>
                </a:solidFill>
                <a:latin typeface="Liberation Sans"/>
              </a:defRPr>
            </a:pPr>
            <a:r>
              <a:t>github.com/bitcoin/bips/blob/master/bip-0360.mediawiki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Liberation Sans"/>
                <a:hlinkClick r:id="rId4"/>
              </a:rPr>
              <a:t>bip360.org</a:t>
            </a:r>
          </a:p>
          <a:p>
            <a:pPr>
              <a:spcAft>
                <a:spcPts val="700"/>
              </a:spcAft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bip360.org/bip360.html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Liberation Sans"/>
                <a:hlinkClick r:id="rId5"/>
              </a:rPr>
              <a:t>GRI Quantum Threat 2024</a:t>
            </a:r>
          </a:p>
          <a:p>
            <a:pPr>
              <a:spcAft>
                <a:spcPts val="700"/>
              </a:spcAft>
              <a:defRPr sz="900">
                <a:solidFill>
                  <a:srgbClr val="888888"/>
                </a:solidFill>
                <a:latin typeface="Liberation Sans"/>
              </a:defRPr>
            </a:pPr>
            <a:r>
              <a:t>globalriskinstitute.org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Liberation Sans"/>
                <a:hlinkClick r:id="rId6"/>
              </a:rPr>
              <a:t>BitMEX Taproot Quantum</a:t>
            </a:r>
          </a:p>
          <a:p>
            <a:pPr>
              <a:spcAft>
                <a:spcPts val="700"/>
              </a:spcAft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bitmex.com/blog/Taproot-Quantum-Spend-Paths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Liberation Sans"/>
                <a:hlinkClick r:id="rId7"/>
              </a:rPr>
              <a:t>BTC Mag: Quantum Summit</a:t>
            </a:r>
          </a:p>
          <a:p>
            <a:pPr>
              <a:spcAft>
                <a:spcPts val="700"/>
              </a:spcAft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bitcoinmagazine.com/technical/the-quantum-bitcoin-summit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F5F0E8"/>
                </a:solidFill>
                <a:latin typeface="Liberation Sans"/>
                <a:hlinkClick r:id="rId8"/>
              </a:rPr>
              <a:t>NIST PQC project</a:t>
            </a:r>
          </a:p>
          <a:p>
            <a:pPr>
              <a:spcAft>
                <a:spcPts val="700"/>
              </a:spcAft>
              <a:defRPr sz="900">
                <a:solidFill>
                  <a:srgbClr val="888888"/>
                </a:solidFill>
                <a:latin typeface="Liberation Sans"/>
              </a:defRPr>
            </a:pPr>
            <a:r>
              <a:t>csrc.nist.gov/projects/post-quantum-cryptography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7931A"/>
                </a:solidFill>
                <a:latin typeface="Liberation Sans"/>
              </a:defRPr>
            </a:pPr>
            <a:r>
              <a:t>Additional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3774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F5F0E8"/>
                </a:solidFill>
                <a:latin typeface="Liberation Sans"/>
              </a:defRPr>
            </a:pPr>
            <a:r>
              <a:t>Hourglass BIP (legacy coin rate-limiting)</a:t>
            </a:r>
          </a:p>
          <a:p>
            <a:pPr>
              <a:spcAft>
                <a:spcPts val="1100"/>
              </a:spcAft>
              <a:defRPr sz="1400">
                <a:solidFill>
                  <a:srgbClr val="F5F0E8"/>
                </a:solidFill>
                <a:latin typeface="Liberation Sans"/>
              </a:defRPr>
            </a:pPr>
            <a:r>
              <a:t>Lopp: Against Quantum Recovery of Bitcoin</a:t>
            </a:r>
          </a:p>
          <a:p>
            <a:pPr>
              <a:spcAft>
                <a:spcPts val="1100"/>
              </a:spcAft>
              <a:defRPr sz="1400">
                <a:solidFill>
                  <a:srgbClr val="F5F0E8"/>
                </a:solidFill>
                <a:latin typeface="Liberation Sans"/>
              </a:defRPr>
            </a:pPr>
            <a:r>
              <a:t>CNSA 2.0 / NIST IR 8547 timelines</a:t>
            </a:r>
          </a:p>
          <a:p>
            <a:pPr>
              <a:spcAft>
                <a:spcPts val="1100"/>
              </a:spcAft>
              <a:defRPr sz="1400">
                <a:solidFill>
                  <a:srgbClr val="F5F0E8"/>
                </a:solidFill>
                <a:latin typeface="Liberation Sans"/>
              </a:defRPr>
            </a:pPr>
            <a:r>
              <a:t>TradingView: 7-year upgrade estimate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tcoinbushbas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09728"/>
            <a:ext cx="1353312" cy="1353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8888"/>
                </a:solidFill>
                <a:latin typeface="Liberation Sans"/>
              </a:defRPr>
            </a:pPr>
            <a:r>
              <a:t>bitcoinbushbash.info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9601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Liberation Sans"/>
              </a:defRPr>
            </a:pPr>
            <a: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4114800" cy="5029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F4C27A"/>
                </a:solidFill>
                <a:latin typeface="Liberation Sans"/>
              </a:defRPr>
            </a:pPr>
            <a:r>
              <a:t>Where should Bitcoin move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Priority 1:  stop exposing public keys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Priority 2:  safe upgrade path (BIP-360)</a:t>
            </a:r>
          </a:p>
          <a:p>
            <a:pPr>
              <a:spcAft>
                <a:spcPts val="1200"/>
              </a:spcAft>
              <a:defRPr sz="3000" b="1">
                <a:solidFill>
                  <a:srgbClr val="F5F0E8"/>
                </a:solidFill>
                <a:latin typeface="Liberation Sans"/>
              </a:defRPr>
            </a:pPr>
            <a:r>
              <a:t>Priority 3:  social consensus on legacy coins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
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 including questions. Bitcoin beginner-advanced, QC none-intermediate.</a:t>
            </a:r>
          </a:p>
          <a:p>
            <a:r>
              <a:t>Frame as a migration race, not overnight collapse.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slide. BIP-360 gets 5 dedicated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CRQC = Cryptographically Relevant Quantum Computer.</a:t>
            </a:r>
          </a:p>
          <a:p>
            <a:r>
              <a:t>Current largest factored number by QC is 15. Far away, but trajectory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Shor: exponential advantage, breaks DLP. The real worry.</a:t>
            </a:r>
          </a:p>
          <a:p>
            <a:r>
              <a:t>Grover: quadratic only. Not a collapse event, a cost-curve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insight: spending behaviour determines exposure.</a:t>
            </a:r>
          </a:p>
          <a:p>
            <a:r>
              <a:t>Address reuse = key exposed on-chain forever.</a:t>
            </a:r>
          </a:p>
          <a:p>
            <a:r>
              <a:t>P2TR key-path = key exposed at receive time (like 2010-era P2PK).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Long exposure: key visible on-chain indefinitely. Attacker has unlimited time.</a:t>
            </a:r>
          </a:p>
          <a:p>
            <a:r>
              <a:t>  P2PK/P2TR key-path: exposed at receive.</a:t>
            </a:r>
          </a:p>
          <a:p>
            <a:r>
              <a:t>  Reused P2PKH: exposed after first spend.</a:t>
            </a:r>
          </a:p>
          <a:p>
            <a:r>
              <a:t>Short exposure: mempool race after key reveal. Needs faster QC. Secondary threat.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Values from GRI 2024 key points. Weighted averages of 32 expert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sums to 32. Shows how spread the expert opinion really is.</a:t>
            </a:r>
          </a:p>
          <a:p>
            <a:r>
              <a:t>18 of 32 say extremely unlikely within 5 years. But 3 say likely or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from Appendix A.4 raw counts * probability bin assignments.</a:t>
            </a:r>
          </a:p>
          <a:p>
            <a:r>
              <a:t>Key: ~34% optimistic at 10 yr, ~62% at 15 yr. The window is tightening.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CNSA 2.0: Commercial National Security Algorithm Suite.</a:t>
            </a:r>
          </a:p>
          <a:p>
            <a:r>
              <a:t>NIST IR 8547 disallows ECC in US federal gov after 2035.</a:t>
            </a:r>
          </a:p>
          <a:p>
            <a:r>
              <a:t>These drive enterprise Bitcoin infrastructure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into solution space. These are coupled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ML-DSA and SLH-DSA are the NIST PQC standards (Aug 2024).</a:t>
            </a:r>
          </a:p>
          <a:p>
            <a:r>
              <a:t>Some candidates already broken: SIKE, Rainbow. Caution warranted.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PQC sigs are much larger than ECDSA/Schnorr (64B -&gt; potentially kilobytes).</a:t>
            </a:r>
          </a:p>
          <a:p>
            <a:r>
              <a:t>Affects on-chain, Lightning, custody, hardware wallets.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BIP-360 by Hunter Beast. Status: Draft.</a:t>
            </a:r>
          </a:p>
          <a:p>
            <a:r>
              <a:t>Core idea: commit to Merkle root of script tree, not a tweaked public key.</a:t>
            </a:r>
          </a:p>
          <a:p>
            <a:r>
              <a:t>Eliminates long-exposure quantum attack surface entirely.</a:t>
            </a:r>
          </a:p>
          <a:p>
            <a:r>
              <a:t>BitMEX endorses this approach: removes Taproot key-path to match P2PKH quantum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Output: OP_2 OP_PUSHBYTES_32 &lt;merkle_root&gt;</a:t>
            </a:r>
          </a:p>
          <a:p>
            <a:r>
              <a:t>Unlike P2TR: no internal key, no key tweak. Commits only to TapBranch hash.</a:t>
            </a:r>
          </a:p>
          <a:p>
            <a:r>
              <a:t>Witness: stack elements + leaf script + control block (NO public key in control block).</a:t>
            </a:r>
          </a:p>
          <a:p>
            <a:r>
              <a:t>Control block: 1 + 32*m bytes (m = tree depth, max 128).</a:t>
            </a:r>
          </a:p>
          <a:p>
            <a:r>
              <a:t>Parity bit always 1 (no key to compute parity from).</a:t>
            </a:r>
          </a:p>
          <a:p>
            <a:r>
              <a:t>Unused script paths remain private. Tapscript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P2MR witness formula: 37 + 32*m bytes more than P2TR key-path.</a:t>
            </a:r>
          </a:p>
          <a:p>
            <a:r>
              <a:t>But always 32 bytes LESS than equivalent P2TR script-path spend.</a:t>
            </a:r>
          </a:p>
          <a:p>
            <a:r>
              <a:t>Because P2MR omits the internal public key from control block.</a:t>
            </a:r>
          </a:p>
          <a:p>
            <a:r>
              <a:t>Depth 0: 103B. Depth 1: 135B. Depth 3: 199B.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from BIP-360: 'Minimize changes to the network.'</a:t>
            </a:r>
          </a:p>
          <a:p>
            <a:r>
              <a:t>'Create the safest possible path for post-quantum signature integrations.'</a:t>
            </a:r>
          </a:p>
          <a:p>
            <a:r>
              <a:t>'Facilitate gradual integration of quantum resistant features carried out iteratively.'</a:t>
            </a:r>
          </a:p>
          <a:p>
            <a:r>
              <a:t>Future PQC via OP_SUCCESSx opcode updates for PQC OP_CHECKSIG.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BIP-360: 'P2MR outputs are only resistant to long exposure attacks.'</a:t>
            </a:r>
          </a:p>
          <a:p>
            <a:r>
              <a:t>'Protection against short exposure attacks may require future post-quantum signatures.'</a:t>
            </a:r>
          </a:p>
          <a:p>
            <a:r>
              <a:t>BitMEX proposes dual tapleaf: quantum-safe AND quantum-vulnerable options per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path: ~7 years for broad adoption (BIP co-author estimate).</a:t>
            </a:r>
          </a:p>
          <a:p>
            <a:r>
              <a:t>Urgent path requires pre-work NOW: standards, wallet readiness, exchange coordination.</a:t>
            </a:r>
          </a:p>
          <a:p>
            <a:r>
              <a:t>Side-by-side with GRI risk signal to visualise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governance territory, not just engineering.</a:t>
            </a:r>
          </a:p>
          <a:p>
            <a:r>
              <a:t>Hourglass BIP: rate-limit quantum-exposed coin movement.</a:t>
            </a:r>
          </a:p>
          <a:p>
            <a:r>
              <a:t>If freeze happens too early, legitimate users harmed.</a:t>
            </a:r>
          </a:p>
          <a:p>
            <a:r>
              <a:t>If too late, market crash from quantum theft.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Satoshi's shield: if Satoshi's coins are vulnerable, attackers face massive sell pressure.</a:t>
            </a:r>
          </a:p>
          <a:p>
            <a:r>
              <a:t>Game-theoretic deterrent against quantum theft.</a:t>
            </a:r>
          </a:p>
          <a:p>
            <a:r>
              <a:t>xpub exposure: SMSF auditing requirements and public Electrum nodes leak derivation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slide. Staged threats, not a single catastrophic event.</a:t>
            </a:r>
          </a:p>
          <a:p>
            <a:r>
              <a:t>Grover: 2^256 -&gt; 2^128 search space. Still enormous.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Nation-state drivers keep quantum investment high regardless of Bitcoin.</a:t>
            </a:r>
          </a:p>
          <a:p>
            <a:r>
              <a:t>'Store now, decrypt later' is already happening — Bitcoin's pressure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priorities. Invite involvement.</a:t>
            </a:r>
          </a:p>
          <a:p>
            <a:r>
              <a:t>Key question: what ships early without fragmenting consensus?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quantum.cloud.ibm.com/learning/en/courses/utility-scale-quantum-computing/bits-gates-and-circuits" TargetMode="External"/><Relationship Id="rId4" Type="http://schemas.openxmlformats.org/officeDocument/2006/relationships/hyperlink" Target="https://www.classiq.io/insights/the-deutsch-jozsa-algorithm-explained" TargetMode="External"/><Relationship Id="rId5" Type="http://schemas.openxmlformats.org/officeDocument/2006/relationships/hyperlink" Target="https://bitcoinmagazine.com/technical/the-quantum-bitcoin-summit-a-grounded-look-at-the-issues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learn.microsoft.com/en-us/azure/quantum/concepts-grovers" TargetMode="External"/><Relationship Id="rId4" Type="http://schemas.openxmlformats.org/officeDocument/2006/relationships/hyperlink" Target="https://arxiv.org/abs/1706.06752" TargetMode="External"/><Relationship Id="rId5" Type="http://schemas.openxmlformats.org/officeDocument/2006/relationships/hyperlink" Target="https://www.nature.com/articles/s41598-024-54434-w" TargetMode="External"/><Relationship Id="rId6" Type="http://schemas.openxmlformats.org/officeDocument/2006/relationships/hyperlink" Target="https://link.springer.com/article/10.1007/s11128-025-04916-1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learnmeabitcoin.com/technical/cryptography/elliptic-curve/" TargetMode="External"/><Relationship Id="rId4" Type="http://schemas.openxmlformats.org/officeDocument/2006/relationships/hyperlink" Target="https://learnmeabitcoin.com/beginners/guide/digital-signatures/" TargetMode="External"/><Relationship Id="rId5" Type="http://schemas.openxmlformats.org/officeDocument/2006/relationships/hyperlink" Target="https://learnmeabitcoin.com/technical/cryptography/hash-function/" TargetMode="External"/><Relationship Id="rId6" Type="http://schemas.openxmlformats.org/officeDocument/2006/relationships/hyperlink" Target="https://learnmeabitcoin.com/technical/mining/memory-pool/" TargetMode="External"/><Relationship Id="rId7" Type="http://schemas.openxmlformats.org/officeDocument/2006/relationships/hyperlink" Target="https://learnmeabitcoin.com/technical/script/p2tr/" TargetMode="External"/><Relationship Id="rId8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lobalriskinstitute.org/publication/quantum-threat-timeline-2025-executive-perspectives-on-barriers-to-action/" TargetMode="External"/><Relationship Id="rId4" Type="http://schemas.openxmlformats.org/officeDocument/2006/relationships/hyperlink" Target="https://www.theinvestorspodcast.com/bitcoin-fundamentals/quantum-computing-and-bitcoin-w-charles-edwards/" TargetMode="External"/><Relationship Id="rId5" Type="http://schemas.openxmlformats.org/officeDocument/2006/relationships/hyperlink" Target="https://www.tradingview.com/news/cointelegraph%253A30729863f094b%253A0-bitcoin-may-take-7-years-to-upgrade-to-post-quantum-bip-360-co-author/" TargetMode="External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bip360.org/bip360.html" TargetMode="External"/><Relationship Id="rId4" Type="http://schemas.openxmlformats.org/officeDocument/2006/relationships/hyperlink" Target="https://github.com/bitcoin/bips/blob/master/bip-0360.mediawiki" TargetMode="Externa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bitmex.com/blog/Taproot-Quantum-Spend-Paths" TargetMode="External"/><Relationship Id="rId4" Type="http://schemas.openxmlformats.org/officeDocument/2006/relationships/hyperlink" Target="https://www.tradingview.com/news/cointelegraph:d4cc2ff14094b:0-bitcoin-faces-6-massive-challenges-to-become-quantum-secure/" TargetMode="External"/><Relationship Id="rId5" Type="http://schemas.openxmlformats.org/officeDocument/2006/relationships/hyperlink" Target="https://bitcoinmagazine.com/news/bitcoin-advances-toward-quantum-resistance" TargetMode="External"/><Relationship Id="rId6" Type="http://schemas.openxmlformats.org/officeDocument/2006/relationships/hyperlink" Target="https://csrc.nist.gov/pubs/fips/204/final" TargetMode="External"/><Relationship Id="rId7" Type="http://schemas.openxmlformats.org/officeDocument/2006/relationships/hyperlink" Target="https://csrc.nist.gov/pubs/fips/205/final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qc.metamui.id/signatures/ecc_dss" TargetMode="External"/><Relationship Id="rId4" Type="http://schemas.openxmlformats.org/officeDocument/2006/relationships/hyperlink" Target="https://asecuritysite.com/pqc/dilbenchmark" TargetMode="External"/><Relationship Id="rId5" Type="http://schemas.openxmlformats.org/officeDocument/2006/relationships/hyperlink" Target="https://huelsing.net/wordpress/?page_id=1474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slh-dsa/sloth" TargetMode="External"/><Relationship Id="rId4" Type="http://schemas.openxmlformats.org/officeDocument/2006/relationships/hyperlink" Target="https://chaincode.com/bitcoin-post-quantum.pdf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cryptoquick/bips/blob/hourglass-v2/bip-hourglass-v2.mediawiki" TargetMode="External"/><Relationship Id="rId4" Type="http://schemas.openxmlformats.org/officeDocument/2006/relationships/hyperlink" Target="https://blog.lopp.net/against-quantum-recovery-of-bitcoin/" TargetMode="External"/><Relationship Id="rId5" Type="http://schemas.openxmlformats.org/officeDocument/2006/relationships/hyperlink" Target="https://www.coindesk.com/business/2026/02/22/to-freeze-or-not-to-freeze-satoshi-and-the-usd440-billion-in-bitcoin-threatened-by-quantum-computing" TargetMode="External"/><Relationship Id="rId6" Type="http://schemas.openxmlformats.org/officeDocument/2006/relationships/hyperlink" Target="https://cointelegraph-magazine.com/bitcoin-may-face-hard-fork-over-any-attempt-to-freeze-satoshis-coins/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frontiersin.org/journals/quantum-science-and-technology/articles/10.3389/frqst.2025.1723319/full" TargetMode="External"/><Relationship Id="rId4" Type="http://schemas.openxmlformats.org/officeDocument/2006/relationships/hyperlink" Target="https://en.wikipedia.org/wiki/Harvest_now,_decrypt_later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federalreserve.gov/econres/feds/harvest-now-decrypt-later-examining-post-quantum-cryptography-and-the-data-privacy-risks-for-distributed-ledger-networks.htm" TargetMode="External"/><Relationship Id="rId4" Type="http://schemas.openxmlformats.org/officeDocument/2006/relationships/hyperlink" Target="https://www.mckinsey.com/industries/life-sciences/our-insights/the-quantum-revolution-in-pharma-faster-smarter-and-more-precise" TargetMode="External"/><Relationship Id="rId5" Type="http://schemas.openxmlformats.org/officeDocument/2006/relationships/hyperlink" Target="https://www.nature.com/articles/s44386-025-00033-2" TargetMode="Externa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Quantum Threat to Bitcoin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What's at risk, what's being built, and what you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Overview the threat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What we can do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What you can 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Talk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1. What is quantum computing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2. The QC threat to Bitcoin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3. Revision: sigs, hashes, mempool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4. When is it coming (GRI 2024)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5. Two big problems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6. BIP-360 deep dive  (the big mitigation)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7. Legacy coins dilemma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8. What you can do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9. Mythbusters &amp; perspective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What is quantum computing?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Only what matters for Bitcoin's security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Core ideas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Road to a CRQC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Superposition: 0 and 1 at once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Entanglement: correlated states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Interference: amplify right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Physical qubits are noisy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Error correction burns many physical qubits per logical qubit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Logical qubits + runtime = can it run Shor fast enough?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QC threat to Bitcoin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Two algorithms, two threat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Shor's algorithm  (signatures)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Grover's algorithm  (hashing)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Breaks ECDSA and Schnorr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Derives private key from public key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Exponential speedup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Primary Bitcoin threat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Targets SHA-256 / RIPEMD-160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Quadratic speedup only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256-bit -&gt; ~128-bit effective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Changes mining economics, not collapse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Digital signatures, hashing, and the mempool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Signatures: prove you own the coins, authorize spend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Hashing: mining proof-of-work + compress/conceal public keys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Public key hidden by hash until first spend (P2PKH/P2SH/P2WSH)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Public key exposed on receive (P2PK, P2TR key-path)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Mempool window: tx waits ~10 min before confirmation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When your public key is visible = your quantum risk window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Attack types: long vs short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posure-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When is it coming?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GRI Quantum Threat Timeline Report 2024  —  32 experts surveyed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Optimistic avg</a:t>
            </a:r>
            <a:br/>
            <a:r>
              <a:t>within 5 years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~34%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Optimistic avg</a:t>
            </a:r>
            <a:br/>
            <a:r>
              <a:t>within 10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Pessimistic avg</a:t>
            </a:r>
            <a:br/>
            <a:r>
              <a:t>within 10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Planning signal, not prediction. Uncertainty concentrates in the 10-15 year window.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GRI expert response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Raw counts — Appendix A.4</a:t>
            </a:r>
          </a:p>
        </p:txBody>
      </p:sp>
      <p:pic>
        <p:nvPicPr>
          <p:cNvPr id="8" name="Picture 7" descr="gri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GRI derived probability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Optimistic vs pessimistic probability assignments</a:t>
            </a:r>
          </a:p>
        </p:txBody>
      </p:sp>
      <p:pic>
        <p:nvPicPr>
          <p:cNvPr id="8" name="Picture 7" descr="gri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Government policy timelines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Regulatory pressure already moving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CNSA 2.0</a:t>
            </a:r>
            <a:br/>
            <a:r>
              <a:t>PQC mandate begins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CNSA 2.0</a:t>
            </a:r>
            <a:br/>
            <a:r>
              <a:t>full browser/OS PQC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NIST IR 8547</a:t>
            </a:r>
            <a:br/>
            <a:r>
              <a:t>disallow ECC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Bitcoin doesn't answer to regulators — but enterprise/institutional users will demand PQC.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two big Bitcoin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5F0E8"/>
                </a:solidFill>
                <a:latin typeface="Liberation Sans"/>
              </a:defRPr>
            </a:pPr>
            <a:r>
              <a:t>1.  Technical:  add post-quantum cryptography to Bitcoin</a:t>
            </a:r>
          </a:p>
          <a:p>
            <a:pPr>
              <a:spcAft>
                <a:spcPts val="1200"/>
              </a:spcAft>
              <a:defRPr sz="3200" b="1">
                <a:solidFill>
                  <a:srgbClr val="F5F0E8"/>
                </a:solidFill>
                <a:latin typeface="Liberation Sans"/>
              </a:defRPr>
            </a:pPr>
            <a:r>
              <a:t>2.  Social:  what happens to legacy coins that don't upgrade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Both must be solved together. Technical alone is not enough.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Post-quantum signature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5 families, different tradeoffs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NIST standardised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Other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ML-DSA (Dilithium) — lattice-based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SLH-DSA (SPHINCS+) — hash-based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Conservative, well-studied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Compact sigs, larger public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Code-based (McEliece) — huge keys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Multivariate (Rainbow — broken)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Isogeny (SIKE — broken)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Active research, real risks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BIP-360 does NOT commit to any PQC algorithm — it builds the infrastructure for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PQC operational impacts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Bigger signatures ripple through the entire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Transaction size and fee increases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Block space pressure and mempool dynamics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Verification and signing time changes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Lightning channel updates: every state = PQC signature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Multisig: N signatures * PQC size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Exchanges and custody: key management overhaul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Pay-to-Merkle-Root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The key quantum mitigation path for Bitcoin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P2MR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New output type</a:t>
            </a:r>
            <a:br/>
            <a:r>
              <a:t>SegWit version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bc1z...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New address</a:t>
            </a:r>
            <a:br/>
            <a:r>
              <a:t>prefix (Bech32m)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Soft fork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Backward</a:t>
            </a:r>
            <a:br/>
            <a:r>
              <a:t>compatible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Removes key-path spend — no public key exposed on-chain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Reuses battle-tested tapscript (BIPs 340/341/342)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Creates safe upgrade path for future PQC opcodes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Merkle tree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How P2MR commits to scripts without exposing keys</a:t>
            </a:r>
          </a:p>
        </p:txBody>
      </p:sp>
      <p:pic>
        <p:nvPicPr>
          <p:cNvPr id="8" name="Picture 7" descr="merkle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witness size tradeoffs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Larger than P2TR key-path — smaller than P2TR script-path</a:t>
            </a:r>
          </a:p>
        </p:txBody>
      </p:sp>
      <p:pic>
        <p:nvPicPr>
          <p:cNvPr id="8" name="Picture 7" descr="witness-c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658368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9202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Depth 0 (single leaf): 103 B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vs P2TR key-path: 66 B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+37 B base overhead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+32 B per tree level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Always 32 B smaller than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equivalent P2TR script-path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(no internal key in control block)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design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Minimum change, maximum future optionality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Design goals (from BIP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Key technical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Minimize changes to the network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Reuse existing Bitcoin code and workflows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Preserve compatibility where possible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Safest path for PQC signature integration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Enable gradual, iterative upgrades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key-path spend (eliminates ECC surface)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internal key tweak (Merkle root only)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OP_SUCCESSx path for future PQC opcodes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specific PQC algorithm mandated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Multiple PQC sigs possible for redundancy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what it protects (and doesn't)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Long-exposure resistance now — short-exposure resistance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Protected: long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Not yet protected: short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Public keys never appear on-chain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Funds at rest are quantum-safe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Unused script paths stay private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Existing tapscript programs work as-is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Mempool window still uses ECDSA/Schnorr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Key revealed during broadcast-to-confirm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Needs future PQC signature opcodes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P2MR creates the path for these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P2MR is stage 1.  PQC signatures via OP_SUCCESSx are stage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Implementation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We win if migration finishes before Q-Day</a:t>
            </a:r>
          </a:p>
        </p:txBody>
      </p:sp>
      <p:pic>
        <p:nvPicPr>
          <p:cNvPr id="8" name="Picture 7" descr="mig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Problem 2: legacy coins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Do nothing = stolen.  Restrict = censorship.  Both bad.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Steal: let CRQC spend them, preserve neutrality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Freeze: lock vulnerable UTXOs preemptively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Hourglass: rate-limit movement of exposed coins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Steal: price shock, but censorship resistance intact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Freeze: market crash prevented, legitimacy damaged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Hourglass: middle path, still contentious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E4572E"/>
                </a:solidFill>
                <a:latin typeface="Liberation Sans"/>
              </a:defRPr>
            </a:pPr>
            <a:r>
              <a:t>Likely outcome: chain split risk. External forces will exploit the division.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What can you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When standards land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Don't reuse addresses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Avoid P2TR/P2PK for large holdings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Don't share your xpub unnecessarily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  (SMSF auditing, public Electrum nodes)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Satoshi's shield: game-theory deterrent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Migrate to P2MR when wallets support it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Adopt tested PQC implementations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Run a node to support the upgrade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Fund dev grants and crypto research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Participate in the consensus direction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Mythbusters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Myth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CRQC breaks all addresses instantly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Grover kills SHA-256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This is only a Bitcoin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Exposure type and time window matter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Quadratic speedup shifts cost curves, not instant break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ECDSA/RSA break is an internet-wide crisis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CRQC most likely use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Bitcoin is one target among many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SIGINT: crack the 'store now, decrypt later' vault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Materials science and engineering simulation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Pharmaceutical drug discovery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Disease prevention and genomics research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Physics: push the boundary of QFT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(1/11)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What is QC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1. IBM Quantum Learning: Bits, Gates, and Circuits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IBM's technical introduction to qubits, quantum gates, and circuits — aimed at people with a computing background, no physics degree required.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2. Classiq: The Deutsch-Jozsa Algorithm Explained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Step-by-step walkthrough of the Deutsch oracle problem and circuit — the simplest demonstration that a quantum computer can outperform a classical one.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3. Bitcoin Magazine: Quantum Bitcoin Summit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Summary of a summit bringing together quantum computing and Bitcoin experts to examine the real threats and separate hype from substance.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(2/11)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What is the threat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4. Grover's Search Algorithm Overview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Microsoft's explanation of Grover's quantum search algorithm, which provides a quadratic speedup for unstructured search problems.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5. Quantum Resource Estimates for ECDLP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Roetteler et al. (2017) foundational paper estimating ~2,330 logical qubits and ~1.29 × 10¹¹ Toffoli gates to break 256-bit ECC using Shor's algorithm.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6. Ha, Lee &amp; Heo (2024) — Resource analysis for ECDLP with noisy qubits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First comprehensive physical qubit estimate for ECDLP under surface codes: ~5.87 million physical qubits for P-256 at 10⁻³ error rate with 200 ns cycle time.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6"/>
              </a:rPr>
              <a:t>7. Ed25519 Optimisation (2025)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Achieves 97% reduction in T-count, 60% reduction in T-depth, and 16% fewer qubits for quantum attacks on Ed25519 by exploiting its specific finite field structure.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(3/11)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Bitcoin revision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8. Elliptic Curve Cryptography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How Bitcoin uses the secp256k1 elliptic curve for key generation and digital signatures — the operation Shor's algorithm can reverse.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9. Digital Signatures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How ECDSA and Schnorr signatures work in Bitcoin to authorise spending without revealing the private key.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10. Hash Functions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Overview of SHA-256 and RIPEMD-160 as used in Bitcoin for mining, addresses, and data integrity — Grover's algorithm provides only a quadratic speedup against these.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6"/>
              </a:rPr>
              <a:t>11. Memory Pool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The mempool where unconfirmed transactions wait — the window during which a short exposure quantum attack could occur.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7"/>
              </a:rPr>
              <a:t>12. Taproot (P2TR)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Pay-to-Taproot: exposes a tweaked public key on-chain, making unspent P2TR outputs vulnerable to long exposure quantum attacks.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(4/11)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QC timeline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13. GRI Quantum Threat Timeline Report 2025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Annual survey of 26 global quantum experts. Optimistic interpretation: ~49% chance of a CRQC within 10 years; pessimistic: ~28%. Notable upward shift from prior years.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14. Bitcoin Fundamentals: Quantum Computing and Bitcoin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Podcast episode discussing the quantum threat to Bitcoin with Charles Edwards, covering timelines, risk assessment, and what bitcoiners should know.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15. Cointelegraph: BIP-360 Upgrade Timeline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BIP-360 co-author estimates Bitcoin may take up to 7 years to fully upgrade to post-quantum signatures under a standard timeline.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(5/11)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Technical problem and fixes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16. BIP360.org Overview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Overview of Pay-to-Merkle-Root (P2MR), a new output type that removes the quantum-vulnerable key path spend from Taproot while preserving script tree functionality.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17. BIP-360 Draft: Pay-to-Merkle-Root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The formal BIP specification for P2MR, detailing address format (bc1z...), witness structure, and security rationale against long exposure quantum attacks.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(6/11)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18. BitMEX Research: Taproot Quantum Spend Paths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Proposes dual-path Taproot wallets with both quantum-safe and classical spend paths, arguing these wallets should be exempt from any future coin freeze.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19. Cointelegraph: Six Quantum Security Challenges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Outlines six major hurdles Bitcoin faces in becoming quantum-resistant, including signature size bloat, consensus changes, and migration logistics.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20. Bitcoin Magazine: Bitcoin Advances Toward Quantum Resistance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Reports on recent development progress toward quantum-resistant Bitcoin, including BIP-360 and related proposals.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6"/>
              </a:rPr>
              <a:t>21. NIST FIPS 204: ML-DSA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NIST's finalised standard for ML-DSA (derived from CRYSTALS-Dilithium), a lattice-based post-quantum digital signature algorithm.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7"/>
              </a:rPr>
              <a:t>22. NIST FIPS 205: SLH-DSA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NIST's finalised standard for SLH-DSA (derived from SPHINCS+), a stateless hash-based post-quantum digital signature algorithm.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(7/11)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23. Post-Quantum Digital Signatures Benchmark: ML-DSA vs ECDSA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Side-by-side performance benchmarks comparing ML-DSA signature sizes, signing times, and verification times against classical ECDSA.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24. ASecuritySite: Digital Signature Benchmark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Interactive benchmarking tool for post-quantum signature schemes including Dilithium/ML-DSA across different security levels.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25. Making SLH-DSA 10x-100x Faster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Research by SLH-DSA co-designer Andreas Huelsing on optimisation techniques to dramatically improve SLH-DSA signing and verification performance.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(8/11)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26. SLotH GitHub: SLH-DSA Performance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Reference implementation and benchmarks for optimised SLH-DSA, targeting hardware acceleration to close the performance gap with lattice-based schemes.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27. Chaincode: Bitcoin Post-Quantum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Chaincode Labs research paper analysing post-quantum migration strategies for Bitcoin, including signature scheme selection and upgrade paths.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(9/11)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Social problem and fixes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28. Hourglass v2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Proposes a middle-ground approach to quantum-vulnerable coins: rate-limiting their movement rather than freezing or ignoring them entirely.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29. Lopp: Against Quantum Recovery of Bitcoin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Jameson Lopp argues Bitcoin should permanently burn funds in quantum-vulnerable addresses rather than allow quantum-capable entities to steal them.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30. CoinDesk: To Freeze or Not to Freeze — Satoshi and the $440B in Bitcoin Threatened by Quantum Computing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Examines the debate over ~7 million BTC in quantum-vulnerable addresses including Satoshi's ~1 million coins, weighing immutability against market stability.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6"/>
              </a:rPr>
              <a:t>31. Cointelegraph Magazine: Bitcoin may face hard fork over any attempt to freeze Satoshi's coins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Argues that freezing quantum-vulnerable coins would violate Bitcoin's core property rights, potentially splitting the network in a contentious hard fork.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(10/11)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F7931A"/>
                </a:solidFill>
                <a:latin typeface="Liberation Sans"/>
              </a:defRPr>
            </a:pPr>
            <a:r>
              <a:t>Other uses of QC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32. Frontiers: Quantum Computing — Foundations, Algorithms, and Emerging Applications (2025)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Comprehensive review covering quantum algorithms and their emerging applications across materials science, chemistry, optimisation, and physics simulation.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33. Wikipedia: Harvest Now, Decrypt Later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Overview of the HNDL strategy where adversaries intercept and store encrypted communications today for decryption once quantum computers become available.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 (11/11)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3"/>
              </a:rPr>
              <a:t>34. Federal Reserve: HNDL and Post-Quantum Cryptography Risks for Distributed Ledger Networks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Federal Reserve research examining how harvest-now-decrypt-later attacks pose data privacy risks specifically for blockchain and distributed ledger networks.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4"/>
              </a:rPr>
              <a:t>35. McKinsey: The Quantum Revolution in Pharma (2025)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McKinsey analysis of how quantum computing is accelerating drug discovery by simulating molecular interactions at the quantum level, compressing timelines from years to weeks.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0E8"/>
                </a:solidFill>
                <a:latin typeface="Liberation Sans"/>
                <a:hlinkClick r:id="rId5"/>
              </a:rPr>
              <a:t>36. Nature: Quantum-Machine-Assisted Drug Discovery (2025)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88888"/>
                </a:solidFill>
                <a:latin typeface="Liberation Sans"/>
              </a:rPr>
              <a:t>Nature paper on combining quantum computing with machine learning for biomarker discovery, genomic data processing, and cancer detection via liquid biopsy.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Where should Bitcoin move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1:  stop exposing public keys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2:  safe upgrade path (BIP-360)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3:  social consensus on legacy coins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